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72" r:id="rId3"/>
    <p:sldId id="273" r:id="rId4"/>
    <p:sldId id="259" r:id="rId5"/>
    <p:sldId id="260" r:id="rId6"/>
    <p:sldId id="274" r:id="rId7"/>
    <p:sldId id="275" r:id="rId8"/>
    <p:sldId id="276" r:id="rId9"/>
    <p:sldId id="277" r:id="rId10"/>
    <p:sldId id="264" r:id="rId11"/>
    <p:sldId id="278" r:id="rId12"/>
    <p:sldId id="279" r:id="rId13"/>
    <p:sldId id="280" r:id="rId14"/>
    <p:sldId id="281" r:id="rId15"/>
    <p:sldId id="268" r:id="rId16"/>
    <p:sldId id="270" r:id="rId17"/>
    <p:sldId id="28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60"/>
  </p:normalViewPr>
  <p:slideViewPr>
    <p:cSldViewPr snapToGrid="0">
      <p:cViewPr>
        <p:scale>
          <a:sx n="125" d="100"/>
          <a:sy n="125" d="100"/>
        </p:scale>
        <p:origin x="-1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FA5843-E83D-43C7-94EF-A2EBBCBC59DD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B65D1-C4BA-472D-9001-2F00EB4DE7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81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65D1-C4BA-472D-9001-2F00EB4DE7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21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65D1-C4BA-472D-9001-2F00EB4DE7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65D1-C4BA-472D-9001-2F00EB4DE7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3829-A35D-0099-FA8D-FECC866B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2CB6A0-97F8-7994-AB8C-2EE6DB14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201E-C48A-4657-9E33-3C5417B3D502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173522-9724-04F9-D5DF-01367DE0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CA599D-0E71-0590-5239-D431A62B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184C-508D-49F3-B3DF-A658026F15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76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749A81-EF3B-EF9C-FE99-A53F048B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C43BC9-55A5-109A-0362-8248D729E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AEA2F4-9676-764F-5216-DF2AEF166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E201E-C48A-4657-9E33-3C5417B3D502}" type="datetimeFigureOut">
              <a:rPr lang="ko-KR" altLang="en-US" smtClean="0"/>
              <a:t>2026-01-14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022312-12F1-116A-1EE4-5A84779C1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DCA8FF-D0BF-1C47-44F5-FF08E3885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D184C-508D-49F3-B3DF-A658026F15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6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AA1D4-BBD8-B5A8-ADFB-B8FCAA482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FF9E7-357D-B9D3-6343-0479E3238DE2}"/>
              </a:ext>
            </a:extLst>
          </p:cNvPr>
          <p:cNvSpPr txBox="1"/>
          <p:nvPr/>
        </p:nvSpPr>
        <p:spPr>
          <a:xfrm>
            <a:off x="770382" y="1859339"/>
            <a:ext cx="95440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b="1" dirty="0"/>
            </a:br>
            <a:r>
              <a:rPr lang="en-US" b="1" dirty="0"/>
              <a:t>80th Anniversary Commemorative Academic Conference</a:t>
            </a:r>
            <a:endParaRPr lang="en-US" dirty="0"/>
          </a:p>
          <a:p>
            <a:pPr>
              <a:buNone/>
            </a:pPr>
            <a:r>
              <a:rPr lang="en-US" b="1" dirty="0"/>
              <a:t>**Optimization of Design Variables for Floating Offshore Wind Turbine Substructures</a:t>
            </a:r>
          </a:p>
          <a:p>
            <a:pPr>
              <a:buNone/>
            </a:pPr>
            <a:r>
              <a:rPr lang="en-US" dirty="0"/>
              <a:t>Based on Reinforcement Learning**</a:t>
            </a:r>
          </a:p>
          <a:p>
            <a:pPr>
              <a:buNone/>
            </a:pPr>
            <a:r>
              <a:rPr lang="en-US" b="1" dirty="0"/>
              <a:t>December 12, 2025</a:t>
            </a:r>
            <a:br>
              <a:rPr lang="en-US" dirty="0"/>
            </a:br>
            <a:r>
              <a:rPr lang="en-US" dirty="0"/>
              <a:t>High1 Grand Hotel Convention Tower (Gangwon Land)</a:t>
            </a:r>
          </a:p>
          <a:p>
            <a:pPr>
              <a:buNone/>
            </a:pPr>
            <a:r>
              <a:rPr lang="en-US" b="1" dirty="0"/>
              <a:t>Affiliation:</a:t>
            </a:r>
            <a:br>
              <a:rPr lang="en-US" dirty="0"/>
            </a:br>
            <a:r>
              <a:rPr lang="en-US" dirty="0"/>
              <a:t>Innovation Research Center for Ultra-Large-Capacity Wind Power Generation Systems,</a:t>
            </a:r>
            <a:br>
              <a:rPr lang="en-US" dirty="0"/>
            </a:br>
            <a:r>
              <a:rPr lang="en-US" dirty="0"/>
              <a:t>Kunsan National University</a:t>
            </a:r>
          </a:p>
          <a:p>
            <a:pPr>
              <a:buNone/>
            </a:pPr>
            <a:r>
              <a:rPr lang="en-US" b="1" dirty="0"/>
              <a:t>Authors:</a:t>
            </a:r>
            <a:br>
              <a:rPr lang="en-US" dirty="0"/>
            </a:br>
            <a:r>
              <a:rPr lang="en-US" dirty="0"/>
              <a:t>Hae-Myung Jeon*, Ik-Su Lee, Jae-Gyu Noh</a:t>
            </a:r>
          </a:p>
        </p:txBody>
      </p:sp>
    </p:spTree>
    <p:extLst>
      <p:ext uri="{BB962C8B-B14F-4D97-AF65-F5344CB8AC3E}">
        <p14:creationId xmlns:p14="http://schemas.microsoft.com/office/powerpoint/2010/main" val="2903247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2DAB37-1C00-D4CA-968A-395B1D69E6A3}"/>
              </a:ext>
            </a:extLst>
          </p:cNvPr>
          <p:cNvSpPr txBox="1"/>
          <p:nvPr/>
        </p:nvSpPr>
        <p:spPr>
          <a:xfrm>
            <a:off x="465582" y="4781407"/>
            <a:ext cx="112608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Design Complexity Due to Upscaling of FOWTs and the Need for Coupled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upscaling of wind turbines is being accelerated to increase power generation per unit installation and to reduce the levelized cost of energy (LCOE).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As turbine size increases, </a:t>
            </a:r>
            <a:r>
              <a:rPr lang="en-US" sz="1400" b="1" dirty="0"/>
              <a:t>inter-system coupling effects</a:t>
            </a:r>
            <a:r>
              <a:rPr lang="en-US" sz="1400" dirty="0"/>
              <a:t> become more significant, leading to more complex dynamic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Floating offshore wind turbines (FOWTs) are influenced by various types of loads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400" b="1" dirty="0"/>
              <a:t>Aero–Hydro–Servo–</a:t>
            </a:r>
            <a:r>
              <a:rPr lang="en-US" sz="1400" b="1" dirty="0" err="1"/>
              <a:t>Elasto</a:t>
            </a:r>
            <a:r>
              <a:rPr lang="en-US" sz="1400" b="1" dirty="0"/>
              <a:t>–Mooring</a:t>
            </a:r>
            <a:r>
              <a:rPr lang="en-US" sz="1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To properly account for these interactions, a </a:t>
            </a:r>
            <a:r>
              <a:rPr lang="en-US" sz="1400" b="1" dirty="0"/>
              <a:t>coupled-analysis-based design approach</a:t>
            </a:r>
            <a:r>
              <a:rPr lang="en-US" sz="1400" dirty="0"/>
              <a:t> is required.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6EFB0-F54A-F031-BE98-CCC367C63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35" r="1450" b="24933"/>
          <a:stretch>
            <a:fillRect/>
          </a:stretch>
        </p:blipFill>
        <p:spPr>
          <a:xfrm>
            <a:off x="946404" y="105297"/>
            <a:ext cx="10611612" cy="430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8483F8-85EC-E083-2B27-8B8CCF15566C}"/>
              </a:ext>
            </a:extLst>
          </p:cNvPr>
          <p:cNvSpPr txBox="1"/>
          <p:nvPr/>
        </p:nvSpPr>
        <p:spPr>
          <a:xfrm>
            <a:off x="490728" y="4617917"/>
            <a:ext cx="109575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Necessity of Optimal Design Based on Coupled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Multiple design variables:</a:t>
            </a:r>
            <a:r>
              <a:rPr lang="en-US" sz="1400" dirty="0"/>
              <a:t> column spacing, diameter, draft, pontoon size, mooring line length,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Multiple objective functions:</a:t>
            </a:r>
            <a:r>
              <a:rPr lang="en-US" sz="1400" dirty="0"/>
              <a:t> stability, loads, cost, AEP,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Multi-physics coupling:</a:t>
            </a:r>
            <a:r>
              <a:rPr lang="en-US" sz="1400" dirty="0"/>
              <a:t> wind, waves, control, and mooring systems all interact with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Nonlinearity:</a:t>
            </a:r>
            <a:r>
              <a:rPr lang="en-US" sz="1400" dirty="0"/>
              <a:t> nonlinear characteristics of structures, fluid dynamics, and mooring systems make </a:t>
            </a:r>
            <a:br>
              <a:rPr lang="en-US" sz="1400" dirty="0"/>
            </a:br>
            <a:r>
              <a:rPr lang="en-US" sz="1400" dirty="0"/>
              <a:t>direct prediction difficult.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Large design space:</a:t>
            </a:r>
            <a:r>
              <a:rPr lang="en-US" sz="1400" dirty="0"/>
              <a:t> due to the enormous number of possible combinations, manual exploration by designers is impractical.</a:t>
            </a:r>
          </a:p>
          <a:p>
            <a:pPr>
              <a:buNone/>
            </a:pPr>
            <a:r>
              <a:rPr lang="en-US" sz="1400" dirty="0"/>
              <a:t>→ </a:t>
            </a:r>
            <a:r>
              <a:rPr lang="en-US" sz="1400" b="1" dirty="0"/>
              <a:t>Optimization serves as a systematic tool that automatically identifies the most promising </a:t>
            </a:r>
            <a:br>
              <a:rPr lang="en-US" sz="1400" b="1" dirty="0"/>
            </a:br>
            <a:r>
              <a:rPr lang="en-US" sz="1400" b="1" dirty="0"/>
              <a:t>design candidates among tens of thousands of possible configurations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750F2-B45F-2829-82F8-BF8425608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133"/>
          <a:stretch>
            <a:fillRect/>
          </a:stretch>
        </p:blipFill>
        <p:spPr>
          <a:xfrm>
            <a:off x="490728" y="502921"/>
            <a:ext cx="10460736" cy="375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26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659D-5369-63EE-33EA-71EE854C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991B5D-317C-130E-B1AF-F5B67ACF4D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52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BF874-5E2B-14FA-5B4A-E6C6CBD9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AB8778-FE4C-2E5A-59CA-18BD3AA50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2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B86A-5AFA-AC69-F418-D77EB050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/>
              <a:t>02 Research Method</a:t>
            </a:r>
            <a:br>
              <a:rPr lang="en-US" b="1" dirty="0"/>
            </a:br>
            <a:r>
              <a:rPr lang="en-US" b="1" dirty="0"/>
              <a:t>[Design Variables]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A2466-CA32-91BC-32EE-49BFD98B6305}"/>
              </a:ext>
            </a:extLst>
          </p:cNvPr>
          <p:cNvSpPr txBox="1"/>
          <p:nvPr/>
        </p:nvSpPr>
        <p:spPr>
          <a:xfrm>
            <a:off x="838200" y="1871395"/>
            <a:ext cx="6376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geometry of the floating substructure is defined using </a:t>
            </a:r>
            <a:r>
              <a:rPr lang="en-US" b="1" dirty="0"/>
              <a:t>seven design variables</a:t>
            </a:r>
            <a:endParaRPr lang="en-US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81F28FC1-0324-557E-FB50-1DB4F42ED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088" y="2600022"/>
            <a:ext cx="5450912" cy="3105834"/>
          </a:xfrm>
          <a:prstGeom prst="rect">
            <a:avLst/>
          </a:prstGeom>
        </p:spPr>
      </p:pic>
      <p:pic>
        <p:nvPicPr>
          <p:cNvPr id="8" name="Picture 7" descr="A diagram of a red and yellow structure">
            <a:extLst>
              <a:ext uri="{FF2B5EF4-FFF2-40B4-BE49-F238E27FC236}">
                <a16:creationId xmlns:a16="http://schemas.microsoft.com/office/drawing/2014/main" id="{B9070947-7AD3-B0AA-CE78-A8194F45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041" y="2907845"/>
            <a:ext cx="5179959" cy="286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30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B340F2-42B9-F38C-7DCD-073D1AA9D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059" y="353342"/>
            <a:ext cx="5751941" cy="2933489"/>
          </a:xfrm>
          <a:prstGeom prst="rect">
            <a:avLst/>
          </a:prstGeom>
        </p:spPr>
      </p:pic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EE50B2E6-1848-3CE6-4C72-A8D160C9E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3" y="140527"/>
            <a:ext cx="6342681" cy="293348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050F72-57CE-9625-E7DC-AAF32415B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459" y="3133812"/>
            <a:ext cx="6885401" cy="237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4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6AE89F-4376-8987-EAA6-DD2562FF0C4E}"/>
              </a:ext>
            </a:extLst>
          </p:cNvPr>
          <p:cNvSpPr txBox="1"/>
          <p:nvPr/>
        </p:nvSpPr>
        <p:spPr>
          <a:xfrm>
            <a:off x="414528" y="470829"/>
            <a:ext cx="10951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Objective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Mass Minimization:</a:t>
            </a:r>
            <a:r>
              <a:rPr lang="en-US" dirty="0"/>
              <a:t> A reward is given when the structural mass is reduced compared to the baseline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Resonance Avoidance:</a:t>
            </a:r>
            <a:r>
              <a:rPr lang="en-US" dirty="0"/>
              <a:t> A reward is given as the distance between the structural natural frequencies</a:t>
            </a:r>
            <a:br>
              <a:rPr lang="en-US" dirty="0"/>
            </a:br>
            <a:r>
              <a:rPr lang="en-US" dirty="0"/>
              <a:t> and the dominant wave frequency increases.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Peak Response Minimization:</a:t>
            </a:r>
            <a:r>
              <a:rPr lang="en-US" dirty="0"/>
              <a:t> A reward is given when the maximum wave-induced motion peaks are reduced compared to the baseline.</a:t>
            </a:r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A77F936C-56B5-4F06-A1AD-26E1F08B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079" y="2662988"/>
            <a:ext cx="5757842" cy="25679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39C5FB-9516-DC8A-99FA-B977B4626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923" y="5552638"/>
            <a:ext cx="7478169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6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DE71FF1-70F2-91C5-1F32-4D9BC700D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71" y="253451"/>
            <a:ext cx="6928920" cy="3879496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20AB3C-8AFC-5902-FB1D-E40B516D8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960" y="1342646"/>
            <a:ext cx="4845419" cy="2684068"/>
          </a:xfrm>
          <a:prstGeom prst="rect">
            <a:avLst/>
          </a:prstGeom>
        </p:spPr>
      </p:pic>
      <p:pic>
        <p:nvPicPr>
          <p:cNvPr id="11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0BB7D7-1BC7-FAAB-F96D-84008A7C0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46595" r="9597"/>
          <a:stretch>
            <a:fillRect/>
          </a:stretch>
        </p:blipFill>
        <p:spPr>
          <a:xfrm>
            <a:off x="4095529" y="3960438"/>
            <a:ext cx="4926210" cy="2644111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60F31D7F-9583-D9D7-518E-A9C26F4F2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634" y="5510452"/>
            <a:ext cx="2871036" cy="109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34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FC8D7-E100-A532-223F-23F3921BE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34FEFE-FFCF-E6E3-3AB6-B136E182D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33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0DC9BA-F7E8-FEBB-90C0-92BF6ED91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" y="0"/>
            <a:ext cx="6050758" cy="4459633"/>
          </a:xfrm>
          <a:prstGeom prst="rect">
            <a:avLst/>
          </a:prstGeom>
        </p:spPr>
      </p:pic>
      <p:pic>
        <p:nvPicPr>
          <p:cNvPr id="6" name="Picture 5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E17B131B-5B30-4CCA-D184-BDAC81AAD1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96000" y="3211812"/>
            <a:ext cx="3165987" cy="2380988"/>
          </a:xfrm>
          <a:prstGeom prst="rect">
            <a:avLst/>
          </a:prstGeom>
        </p:spPr>
      </p:pic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ECAB64EB-0A7C-DBE0-DDFA-30ABAC4B7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909" y="2639719"/>
            <a:ext cx="3807190" cy="281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2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0D4BCE9E-155E-185E-20D4-F0A4AB80E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4" y="84333"/>
            <a:ext cx="5461935" cy="3799002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6BF4BEF-8F1C-91A9-0240-9FD5968B7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4156876"/>
            <a:ext cx="4816313" cy="133463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E1B3889-988F-88D4-86A9-4778D1C34476}"/>
              </a:ext>
            </a:extLst>
          </p:cNvPr>
          <p:cNvGrpSpPr/>
          <p:nvPr/>
        </p:nvGrpSpPr>
        <p:grpSpPr>
          <a:xfrm>
            <a:off x="5383346" y="3543300"/>
            <a:ext cx="6519094" cy="1870362"/>
            <a:chOff x="4319482" y="4604899"/>
            <a:chExt cx="7342144" cy="196180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D1898B1-0B73-BC55-CB9B-FFF023D3C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19482" y="5017204"/>
              <a:ext cx="1392703" cy="98972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11" name="Picture 10" descr="A diagram of a design process&#10;&#10;AI-generated content may be incorrect.">
              <a:extLst>
                <a:ext uri="{FF2B5EF4-FFF2-40B4-BE49-F238E27FC236}">
                  <a16:creationId xmlns:a16="http://schemas.microsoft.com/office/drawing/2014/main" id="{EC57695B-A508-1F31-F541-932B0DA7D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2185" y="4604899"/>
              <a:ext cx="5949441" cy="19618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0985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343B-61D6-DAA0-FB4A-1168DF119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129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Results &amp; 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close-up of a text">
            <a:extLst>
              <a:ext uri="{FF2B5EF4-FFF2-40B4-BE49-F238E27FC236}">
                <a16:creationId xmlns:a16="http://schemas.microsoft.com/office/drawing/2014/main" id="{BF92B246-EBDE-AE8D-B11D-6A6479384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672" y="4535700"/>
            <a:ext cx="6894576" cy="2160987"/>
          </a:xfrm>
          <a:prstGeom prst="rect">
            <a:avLst/>
          </a:prstGeom>
        </p:spPr>
      </p:pic>
      <p:pic>
        <p:nvPicPr>
          <p:cNvPr id="6" name="Picture 5" descr="A close-up of a tool">
            <a:extLst>
              <a:ext uri="{FF2B5EF4-FFF2-40B4-BE49-F238E27FC236}">
                <a16:creationId xmlns:a16="http://schemas.microsoft.com/office/drawing/2014/main" id="{62BAEDCC-54FC-FB93-75C5-B73F2F80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02" y="1228302"/>
            <a:ext cx="9862814" cy="300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72624-7EB8-0F8E-0BE4-C49054C1C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E4928B-6E1C-C57D-531A-B454C6AB6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200"/>
          <a:stretch>
            <a:fillRect/>
          </a:stretch>
        </p:blipFill>
        <p:spPr>
          <a:xfrm>
            <a:off x="850392" y="0"/>
            <a:ext cx="10967560" cy="4663440"/>
          </a:xfrm>
          <a:prstGeom prst="rect">
            <a:avLst/>
          </a:prstGeom>
        </p:spPr>
      </p:pic>
      <p:pic>
        <p:nvPicPr>
          <p:cNvPr id="8" name="Picture 7" descr="A close up of a text&#10;&#10;AI-generated content may be incorrect.">
            <a:extLst>
              <a:ext uri="{FF2B5EF4-FFF2-40B4-BE49-F238E27FC236}">
                <a16:creationId xmlns:a16="http://schemas.microsoft.com/office/drawing/2014/main" id="{8117DBB7-93F6-C5E0-3E89-CC3C30611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047" y="4829816"/>
            <a:ext cx="756390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87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1A61-82E1-55C8-B354-28DDCF2D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0B256A-2056-21F7-0925-CE9E5A7DA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779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B3F0-B3DF-14E4-DD78-065CCED4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7079CC-47B3-8587-77A7-8AE9D78C7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61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DE5CD03-2341-A8D5-D395-281218AD1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702" y="0"/>
            <a:ext cx="7466066" cy="3454713"/>
          </a:xfrm>
          <a:prstGeom prst="rect">
            <a:avLst/>
          </a:prstGeom>
        </p:spPr>
      </p:pic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F0733CF3-CE1B-425D-4491-146811FE1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232" y="3429000"/>
            <a:ext cx="5762225" cy="332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65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379</Words>
  <Application>Microsoft Office PowerPoint</Application>
  <PresentationFormat>Widescreen</PresentationFormat>
  <Paragraphs>28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맑은 고딕</vt:lpstr>
      <vt:lpstr>Aptos</vt:lpstr>
      <vt:lpstr>Arial</vt:lpstr>
      <vt:lpstr>Times New Roman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02 Research Method [Design Variables]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03 Results &amp; Conclusion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JeonHae Myeong</dc:creator>
  <cp:lastModifiedBy>kunsanuni3</cp:lastModifiedBy>
  <cp:revision>6</cp:revision>
  <dcterms:created xsi:type="dcterms:W3CDTF">2025-12-11T15:25:00Z</dcterms:created>
  <dcterms:modified xsi:type="dcterms:W3CDTF">2026-01-14T06:03:55Z</dcterms:modified>
</cp:coreProperties>
</file>