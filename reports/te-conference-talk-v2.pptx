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61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41248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7315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ENTROPY   —   FLOATING OFFSHORE WIND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41248" y="18288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Directional Causality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841248" y="2944368"/>
            <a:ext cx="1234440" cy="41148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32004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A3A3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between Load and Response Variables of a Floating Offshore Wind Turbine,
</a:t>
            </a:r>
            <a:endParaRPr lang="en-US" sz="2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3A3A3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via </a:t>
            </a:r>
            <a:r>
              <a:rPr lang="en-US" sz="2100" dirty="0">
                <a:solidFill>
                  <a:srgbClr val="BE3A3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Time-Domain Transfer Entropy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41248" y="544068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5623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Sina Hadadi, Ph.D.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Assistant · Laboratory of Autonomous Maritime Systems (LAMS)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Dept. of Naval Architecture &amp; Ocean Engineering · Kunsan National University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 — Prof. Jackyou Noh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92847" y="5623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4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KWEA 2026</a:t>
            </a:r>
            <a:endParaRPr lang="en-US" sz="1400" dirty="0"/>
          </a:p>
          <a:p>
            <a:pPr marL="0" indent="0" algn="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2026.06.22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MOTIVATION  ·  RL CONTEXT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RL-based FOWT substructure optimization · Jeon, Lee &amp; Noh (2025) — LAMS / KSNU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optimization as reinforcement learning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41248" y="2670048"/>
            <a:ext cx="3200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8A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5568" y="2852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3236976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Actor</a:t>
            </a: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policy π(a | s)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Critic</a:t>
            </a: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value V(s)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actor–critic, TD-error updates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0047" y="2670048"/>
            <a:ext cx="32004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8A87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24367" y="2852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24367" y="3236976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RAFT coupled simulator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aero · hydro · servo · moor</a:t>
            </a:r>
            <a:endParaRPr lang="en-US" sz="130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evaluates each 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41648" y="2779776"/>
            <a:ext cx="4108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 </a:t>
            </a:r>
            <a:r>
              <a:rPr lang="en-US" sz="12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aₜ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51376" y="3172968"/>
            <a:ext cx="3888943" cy="0"/>
          </a:xfrm>
          <a:prstGeom prst="line">
            <a:avLst/>
          </a:prstGeom>
          <a:noFill/>
          <a:ln w="19050">
            <a:solidFill>
              <a:srgbClr val="17181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41648" y="3273552"/>
            <a:ext cx="4108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design variables  (D_MCol, D_OCol, R_MO, …)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51376" y="3904488"/>
            <a:ext cx="3888943" cy="0"/>
          </a:xfrm>
          <a:prstGeom prst="line">
            <a:avLst/>
          </a:prstGeom>
          <a:noFill/>
          <a:ln w="28575">
            <a:solidFill>
              <a:srgbClr val="BE3A34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41648" y="4032504"/>
            <a:ext cx="41083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 sₜ₊₁          </a:t>
            </a:r>
            <a:r>
              <a:rPr lang="en-US" sz="12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reward  rₜ₊₁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1248" y="489204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1248" y="507492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0704" y="4992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REWARD  ·  rₜ₊₁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" y="536752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reward is the one signal the agent maximizes — it </a:t>
            </a:r>
            <a:r>
              <a:rPr lang="en-US" sz="14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encodes the design objectives</a:t>
            </a: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(mass ↓, resonance avoidance, peak-response ↓). Its weights decide which objective wins — exactly what we examine next.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MOTIVATION  ·  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Variable-importance weighting for FOWT design optimization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these weights? From hand-set to data-driven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41248" y="2139696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105091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Reward  =  </a:t>
            </a:r>
            <a:r>
              <a:rPr lang="en-US" sz="2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</a:t>
            </a:r>
            <a:r>
              <a:rPr lang="en-US" sz="1400" baseline="-400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r>
              <a:rPr lang="en-US" sz="23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· ΔMass   +   </a:t>
            </a:r>
            <a:r>
              <a:rPr lang="en-US" sz="2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</a:t>
            </a:r>
            <a:r>
              <a:rPr lang="en-US" sz="1400" baseline="-400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r>
              <a:rPr lang="en-US" sz="23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· ΔResonance   +   </a:t>
            </a:r>
            <a:r>
              <a:rPr lang="en-US" sz="2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</a:t>
            </a:r>
            <a:r>
              <a:rPr lang="en-US" sz="1400" baseline="-400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r>
              <a:rPr lang="en-US" sz="23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· ΔPitch</a:t>
            </a:r>
            <a:r>
              <a:rPr lang="en-US" sz="1300" baseline="-400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peak</a:t>
            </a:r>
            <a:r>
              <a:rPr lang="en-US" sz="23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  +   </a:t>
            </a:r>
            <a:r>
              <a:rPr lang="en-US" sz="2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</a:t>
            </a:r>
            <a:r>
              <a:rPr lang="en-US" sz="1400" baseline="-400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r>
              <a:rPr lang="en-US" sz="23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· ΔHeave</a:t>
            </a:r>
            <a:r>
              <a:rPr lang="en-US" sz="1300" baseline="-400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peak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41248" y="292608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01752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weights X₁…X₄ are set by hand in our RL substructure design optimization (cost, power, constraint priority) — not from data.   LAMS, KSNU.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16168" y="3703320"/>
            <a:ext cx="0" cy="228600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" y="3703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GAP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1248" y="4087368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Weights rank variable importance </a:t>
            </a:r>
            <a:r>
              <a:rPr lang="en-US" sz="14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by hand</a:t>
            </a: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No objective basis for which responses matter most — or how strongly each is driven by the environment.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27648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DATA-DRIVEN BASIS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27648" y="4087368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entropy</a:t>
            </a:r>
            <a:r>
              <a:rPr lang="en-US" sz="1450" dirty="0">
                <a:solidFill>
                  <a:srgbClr val="BE3A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</a:t>
            </a: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environmental drivers causally drive each response.</a:t>
            </a:r>
            <a:endParaRPr lang="en-US" sz="1450" dirty="0"/>
          </a:p>
          <a:p>
            <a:pPr marL="0" indent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Sobol sensitivity</a:t>
            </a:r>
            <a:r>
              <a:rPr lang="en-US" sz="1450" dirty="0">
                <a:solidFill>
                  <a:srgbClr val="BE3A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</a:t>
            </a: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design parameters move each response.</a:t>
            </a:r>
            <a:endParaRPr lang="en-US" sz="1450" dirty="0"/>
          </a:p>
          <a:p>
            <a:pPr marL="0" indent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Together</a:t>
            </a:r>
            <a:r>
              <a:rPr lang="en-US" sz="1450" dirty="0">
                <a:solidFill>
                  <a:srgbClr val="BE3A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</a:t>
            </a: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data-driven basis for the weights.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MOTIVATION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04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association to directed causation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Correlation / coherence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Symmetric and undirected — quantifies association. γ²(f) tells you wind and a load share power at a frequency, </a:t>
            </a:r>
            <a:r>
              <a:rPr lang="en-US" sz="13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which drives which.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entropy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Directed, nonlinear, model-free. Measures information that a source's past adds about a target's future, </a:t>
            </a:r>
            <a:r>
              <a:rPr lang="en-US" sz="13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beyond the target's own past.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QUESTION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environmental driver — wind or wave — causally drives each structural response, and which coupling pathways do linear methods miss?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CAUSALITY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05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Correlation is not causation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trap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Ice-cream sales and drownings rise together — both driven by summer heat. Strong correlation, zero causation. corr(A,B) = corr(B,A) carries no arrow.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direction needs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cause must precede its effect in time, and the link must survive once the target's own history and shared drivers are accounted for.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A COUPLED SYSTEM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turbulence or a floating turbine, dozens of channels move together. Eyeballing what drives what is hopeless — we need a directed, model-free measure.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INFORMATION THEORY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06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building blocks: entropy and information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Shannon entropy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H(X) = −Σ p(x) log p(x)
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uncertainty — the “surprise” in a signal. Zero when the outcome is certain, maximal when all outcomes are equally likely.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Mutual information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I(X;Y) = H(X) + H(Y) − H(X,Y)
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information shared between X and Y — how much knowing one reduces uncertainty about the other.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CATCH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Mutual information is symmetric: I(X;Y) = I(Y;X). It cannot say which variable drives which — the gap that transfer entropy is built to close.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ENTROPY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07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entropy, defined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definition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TE(X→Y) = H(Y_f | Y_p) − H(Y_f | Y_p, X_p)
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Y_f = target's future · Y_p = target's past · X_p = source's past. How much the source's past sharpens the prediction of the target's next step, beyond its own history.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conditioning trick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Conditioning on Y's own past removes self-prediction and shared history — only genuinely new information from X survives. That is what makes TE directed: TE(X→Y) ≠ TE(Y→X).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PROPERTIES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≥ 0 always, and TE = 0 means no transfer. Asymmetric by design — and for linear-Gaussian signals reduces exactly to Granger causality (Barnett et al. 2009). Definition: Schreiber (2000).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ESTIMATION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08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Estimating TE without binning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Nearest neighbours, not bins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is a conditional mutual information. The Kraskov–Stögbauer–Grassberger (KSG) estimator counts k nearest neighbours (k = 4) in the joint space — no histogram, and no bin count to choose.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suits our data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Adaptive resolution on continuous signals; captures nonlinear dependence that Gaussian methods miss. Reported in nats (natural log), not bits — the same quantity. Kraskov et al. (2004).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THE PIPELINE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run KSG with k = 4 and a non-uniform embedding (max_lag = 150 ≈ one slow-drift cycle), GPU-accelerated through IDTxl (Wollstadt et al. 2019).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09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Time delay τ and the embedding window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Delay vectors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represents the recent past as a delay vector: Y_past = [ y(t−τ), y(t−2τ), …, y(t−max_lag) ]. The delay τ sets the spacing between lags; max_lag sets how far back the test looks.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Our settings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max_lag = 150 samples ≈ 30 s at 5 Hz — one full platform slow-drift cycle. τ = 1 keeps every lag and a greedy search picks the few that matter; τ = 5 thins ~150 candidates to ~30.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BOTH MATTER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short a window misses the slow-drift dynamics; too fine a lag grid makes the greedy search explode. Together τ and max_lag decide which lags the causal test can even see.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τ is not a free knob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tempting shortcut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common heuristic sets τ from the first minimum of a signal's self-mutual-information (the AIS-optimal delay). It preserves self-predictability (AIS) well.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…that breaks TE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a self-MI τ = 10 </a:t>
            </a:r>
            <a:r>
              <a:rPr lang="en-US" sz="13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zeroed</a:t>
            </a: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strongest Wave→PtfmPitch edge. Directed couplings live at specific lags that self-prediction heuristics miss — optimal for AIS is not optimal for transfer.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ROLES FOR 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 is both a modelling choice (which lags the test sees) and a compute lever — the slow-drift platform channels only finish at τ = 5. We validate any τ &gt; 1 against the τ = 1 baseline.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SIGNIFICANCE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11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the transfer real? Surrogate testing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null hypothesis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KSG TE is never exactly zero — finite-sample noise leaves a small positive value. So we ask: is the measured TE larger than chance, if there were no coupling?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Circular-shift surrogates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Rotate the source in time (n = 200), destroying its timing with the target while keeping its spectrum. p = fraction of surrogates beating the real TE; keep edges with p &lt; 0.05.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CIRCULAR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circular shift keeps the source's own spectrum and amplitude intact and removes only the X→Y timing — a strict, honest null that avoids false positives.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INTUITION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12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toy example: who drives whom?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Setup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X[i] = 0.5·X[i−1] + noise (autonomous).
Y[i] = 0.5·X[i−1] + noise (responds to X's past).
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look like random noise to the eye.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TE recovers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TE(X→Y) ≫ TE(Y→X).</a:t>
            </a: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asymmetry correctly flags X as the driver — something a symmetric correlation could never reveal.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TAKEAWAY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 emerges from the conditioning, not from the raw signals — exactly the test we run on wind, wave and structural channels.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CORRELATION TO CAUSATION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13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ways to measure dependence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41248" y="2240280"/>
            <a:ext cx="3198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Correlation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2624328"/>
            <a:ext cx="319826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 of linear association. corr(X,Y) = corr(Y,X) — symmetric.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B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Directional ✗     Nonlinear ✗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68114" y="2240280"/>
            <a:ext cx="0" cy="228600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96714" y="2240280"/>
            <a:ext cx="3198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Granger causality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496714" y="2624328"/>
            <a:ext cx="319826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X's past improve a linear forecast of Y? Directed, but assumes a linear (VAR) model. Granger 1969 · Nobel 2003.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B6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Directional ✓     Nonlinear ✗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23581" y="2240280"/>
            <a:ext cx="0" cy="228600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52181" y="2240280"/>
            <a:ext cx="3198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entropy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152181" y="2624328"/>
            <a:ext cx="319826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X's past reduce uncertainty about Y's future? Model-free, no distributional assumption. Schreiber 2000.
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Directional ✓     Nonlinear ✓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" y="498348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" y="516636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60704" y="5084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545896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entropy is the only one that is both directed and nonlinear. For linear-Gaussian processes it reduces exactly to Granger causality (Barnett et al. 2009) — so it earns its keep precisely where the dynamics are nonlinear or non-Gaussian.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 vs GRANGER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14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entropy and Granger causality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Granger causality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Linear autoregressive (VAR) model. Fast and well-understood, but assumes linearity and (often) Gaussian statistics — misses nonlinear coupling.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entropy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Model-free, no distributional assumption, captures any nonlinearity. Costlier (k-NN estimation) and hungrier for data.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THEY AGREE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linear-Gaussian processes the two are exactly equivalent (Barnett et al. 2009). TE earns its keep only where the dynamics are nonlinear or non-Gaussian — which is why we run both.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TO USE 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15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preliminary, 11 m/s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does transfer entropy pay off?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41248" y="2240280"/>
            <a:ext cx="3198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Linear / Gaussian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2624328"/>
            <a:ext cx="319826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= Granger causality exactly (Barnett 2009). No added value — use the simpler method.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68114" y="2240280"/>
            <a:ext cx="0" cy="228600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96714" y="2240280"/>
            <a:ext cx="3198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Nonlinear / non-Gaussian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496714" y="2624328"/>
            <a:ext cx="319826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captures directed structure that linear methods cannot see. </a:t>
            </a:r>
            <a:r>
              <a:rPr lang="en-US" sz="12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is its sweet spot.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23581" y="2240280"/>
            <a:ext cx="0" cy="228600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52181" y="2240280"/>
            <a:ext cx="3198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Very high-dimensional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152181" y="2624328"/>
            <a:ext cx="319826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coupled modes degrade the k-NN estimate — curse of dimensionality, data starvation.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" y="498348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" y="516636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60704" y="5084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545896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floating turbine in irregular waves with a nonlinear ROSCO controller sits squarely in the middle regime — nonlinear and non-Gaussian — where transfer entropy adds the most.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41248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7315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SYSTEM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55887" y="502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24688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coupled wind–wave–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structure–mooring system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41248" y="4160520"/>
            <a:ext cx="1234440" cy="41148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44348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A3A3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Every channel — aerodynamic, hydrodynamic, servo and elastic — moves together. Which couplings are causal?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64247" y="2148840"/>
            <a:ext cx="3931920" cy="3590367"/>
          </a:xfrm>
          <a:prstGeom prst="rect">
            <a:avLst/>
          </a:prstGeom>
          <a:solidFill>
            <a:srgbClr val="FFFFFF"/>
          </a:solidFill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figs/v2_assets/s15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407" y="2286000"/>
            <a:ext cx="3657600" cy="33160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SYSTEM &amp; DATA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17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DLC-1.6 (11 m/s, severe sea)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IEA-15MW FOWT, simulated in OpenFAST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41248" y="2103120"/>
            <a:ext cx="5394960" cy="3411967"/>
          </a:xfrm>
          <a:prstGeom prst="rect">
            <a:avLst/>
          </a:prstGeom>
          <a:solidFill>
            <a:srgbClr val="FFFFFF"/>
          </a:solidFill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figs/v2_assets/openf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97" y="1719072"/>
            <a:ext cx="5971251" cy="365885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" y="5606527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OpenFAST — coupled aero-hydro-servo-elastic modules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784848" y="2148840"/>
            <a:ext cx="4565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PLATFORM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784848" y="2459736"/>
            <a:ext cx="4565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IEA-15-240-RWT on the UMaine VolturnUS-S semisubmersible; coupled aero-hydro-servo-elastic OpenFAST model.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784848" y="3364992"/>
            <a:ext cx="45655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84848" y="3474720"/>
            <a:ext cx="4565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SIGNALS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784848" y="3785616"/>
            <a:ext cx="4565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3600 s simulation · drop 600 s transient · decimate to 5 Hz.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784848" y="4690872"/>
            <a:ext cx="45655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84848" y="4800600"/>
            <a:ext cx="45655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CHANNELS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784848" y="5111496"/>
            <a:ext cx="45655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sources — Wind1VelX, Wave1Elev → 9 responses: RootMyc1, RootMxc1, TwrBsMyt, PtfmHeave / Surge / Pitch, FAIRTEN1 / 2 / 3.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 LOAD CASES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18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full campaign: DLC-A / DLC-B / DLC-1.6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simulation campaign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2758288" y="1874520"/>
            <a:ext cx="6675120" cy="37304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figs/v2_assets/dlc-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448" y="2011680"/>
            <a:ext cx="6400800" cy="34561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895448" y="57604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DLC-A / DLC-B / DLC-1.6 across the operating-point sweep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ENVIRONMENTAL CONDITIONS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19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full campaign: DLC-A / DLC-B / DLC-1.6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 and wave inputs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 — TurbSim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IEC Kaimal (IECKAI) spectrum, Normal Turbulence Model, class B, power-law shear, referenced at hub height. URef = 8 / 11 / 15 / 20 m/s.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Waves — JONSWAP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Irregular JONSWAP sea (SeaState module). Hs / Tp scale with wind: (3.5 m, 9 s) → (8.0 m, 13 s). DLC-1.6 severe sea: Hs = 8.3 m, Tp = 12.95 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RANDOM SEEDS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DLC-A / DLC-1.6 reuse the wind seed for the wave generator; DLC-B draws an independent one. In OpenFAST, wind (TurbSim) and waves (HydroDyn) are generated separately, so the seed fixes reproducibility — not wind–wave correlation.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20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DLC-1.6 (11 m/s, severe sea)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5 Hz is enough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24688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Environment &amp; platform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265176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Slow-drift platform motion — 0.01–0.1 Hz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Wave first-order band — 0.05–0.3 Hz (JONSWAP peak 0.077 Hz)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eigenmodes — pitch 0.0345, heave 0.05, surge 0.01 Hz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 low-frequency turbulent eddies — 0.01–1 Hz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Rotor &amp; structure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27648" y="265176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1P / 3P rotor harmonics — ~0.15 / 0.45 Hz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Tower fore-aft natural mode — ~0.5 Hz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Blade-flap natural mode — ~0.6 Hz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" y="50749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525780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5175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BOTTOM LINE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55040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down-sample 40 Hz → 5 Hz (×8). Nyquist = 2.5 Hz sits well above the highest band (~0.6 Hz), so every causal signal is preserved while the KSG sweep drops ~8×.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21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DLC-1.6 (11 m/s, severe sea)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Directed transfer, with linear baselines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41248" y="2157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BE3A3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81328" y="21945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KSG transfer entropy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81328" y="25237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Kraskov estimator (k = 4), non-uniform embedding, max_lag = 150 (30 s — one slow-drift cycle).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1455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BE3A3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81328" y="31821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Significance &amp; effect size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81328" y="35112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Circular-shift surrogates ×200, p &lt; 0.05 (max-stat). Normalized: te_frac = TE / (H(Y) − AIS(Y)).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4133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BE3A3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81328" y="416966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Linear baselines, same pipeline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81328" y="44988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Gaussian / Granger (estimator swap) + magnitude-squared coherence γ²(f).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BE3A3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481328" y="51572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Compute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481328" y="5486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OpenCL on 2× A100; GPU validated vs CPU (AIS RootMyc1 1.50 vs 1.49).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56248" y="2331720"/>
            <a:ext cx="5029200" cy="297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figs/v2_assets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468880"/>
            <a:ext cx="4754880" cy="27031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693408" y="54646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 pipeline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22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DLC-1.6 (11 m/s, severe sea)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transfer entropy measures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3215488" y="1965960"/>
            <a:ext cx="5760720" cy="2959783"/>
          </a:xfrm>
          <a:prstGeom prst="rect">
            <a:avLst/>
          </a:prstGeom>
          <a:solidFill>
            <a:srgbClr val="FFFFFF"/>
          </a:solidFill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figs/v2_assets/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648" y="2103120"/>
            <a:ext cx="5486400" cy="268546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41248" y="516636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41248" y="5349240"/>
            <a:ext cx="1050919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one line — </a:t>
            </a: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source's past sharpens the prediction of the target beyond the target's own history, information flows source → target. Directed (X→Y ≠ Y→X) and nonlinear — what correlation and coherence cannot see.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23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full campaign: DLC-A / DLC-B / DLC-1.6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wave-dominated causal graph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41248" y="1993392"/>
            <a:ext cx="5760720" cy="38909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figs/v2_assets/te-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30552"/>
            <a:ext cx="5486400" cy="36166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" y="59757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network · bivariate KSG, edge weight = mean te_frac across all 54 DLC cases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67728" y="2039112"/>
            <a:ext cx="4382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67728" y="2350008"/>
            <a:ext cx="438271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Wave elevation drives every significant response</a:t>
            </a: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pitch, heave, surge, tower base and mooring. Wind shows no significant directed transfer to the structure.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67728" y="3630168"/>
            <a:ext cx="438271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967728" y="3776472"/>
            <a:ext cx="43827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7 / 7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6967728" y="4361688"/>
            <a:ext cx="4382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edges — every one originates from wave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967728" y="4745736"/>
            <a:ext cx="438271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67728" y="4892040"/>
            <a:ext cx="43827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BE3A3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6967728" y="5477256"/>
            <a:ext cx="4382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wind → structure edges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24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full campaign: DLC-A / DLC-B / DLC-1.6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significant edges — 7 of 18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41248" y="2377440"/>
            <a:ext cx="6309360" cy="3061867"/>
          </a:xfrm>
          <a:prstGeom prst="rect">
            <a:avLst/>
          </a:prstGeom>
          <a:solidFill>
            <a:srgbClr val="FFFFFF"/>
          </a:solidFill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figs/v2_assets/conf-windwave-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514600"/>
            <a:ext cx="6035040" cy="278754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" y="5530747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directed transfer (nats) — wave only, mean across 54 cases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16368" y="2423160"/>
            <a:ext cx="3834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WAVE DRIVES THE STRUCTURE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516368" y="2734056"/>
            <a:ext cx="38340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five strongest edges — pitch, heave, the forward fairleads and surge — cluster at 0.11–0.12 nats. </a:t>
            </a:r>
            <a:r>
              <a:rPr lang="en-US" sz="13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wind → structure edge is significant</a:t>
            </a: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anywhere in the campaign.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516368" y="4562856"/>
            <a:ext cx="383407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16368" y="4709160"/>
            <a:ext cx="383407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 / 18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7516368" y="5294376"/>
            <a:ext cx="3834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wind → structure edges — wave drives all seven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TRIANGULATION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25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DLC-1.6 (11 m/s, severe sea)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 vs. coherence vs. Granger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841248" y="2240280"/>
            <a:ext cx="3198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Coherence γ²(f)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2624328"/>
            <a:ext cx="319826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Undirected spectral ceiling. Shared power, no direction.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68114" y="2240280"/>
            <a:ext cx="0" cy="228600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96714" y="2240280"/>
            <a:ext cx="3198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Gaussian / Granger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496714" y="2624328"/>
            <a:ext cx="319826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Directional but linear. Over-detects under correlated wind–wave.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23581" y="2240280"/>
            <a:ext cx="0" cy="228600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52181" y="2240280"/>
            <a:ext cx="3198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entropy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152181" y="2624328"/>
            <a:ext cx="319826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Directed AND nonlinear. </a:t>
            </a:r>
            <a:r>
              <a:rPr lang="en-US" sz="12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Catches couplings the others miss.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" y="498348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" y="516636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60704" y="5084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 THE TRIANGLE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" y="545896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TE is significant but the linear baselines are not = nonlinear directed coupling unique to TE (e.g. the wave 2nd-order difference-frequency forcing of pitch). Where all three agree, the embedding is validated.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QUESTION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26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DLC-1.6 (11 m/s, severe sea)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wind paradox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40280"/>
            <a:ext cx="0" cy="15544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402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PUZZLE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2606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Wind → structure ≈ 0 across 8–20 m/s</a:t>
            </a: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yet wind is what drives the turbine. Counter-intuitive, and it holds at every operating point.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AN ARTIFACT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27648" y="2606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 decorrelates at ~11.6 s — well inside the 30 s embedding window. The wind signal is sampled; it simply isn't transferring information to the structure.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41248" y="4343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1248" y="4526280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0704" y="4443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HYPOTHESIS — A CONTROLLER “FIREWALL”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4818888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blade-pitch controller (ROSCO) regulates rotor thrust so tightly that wind fluctuations are rejected before they reach the platform. The controller acts as a causal firewall — wind energizes the rotor, not the structure.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QUESTION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27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DLC-1.6 (11 m/s, severe sea)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Testing the firewall — controller-off ablation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41248" y="2331720"/>
            <a:ext cx="6675120" cy="3029722"/>
          </a:xfrm>
          <a:prstGeom prst="rect">
            <a:avLst/>
          </a:prstGeom>
          <a:solidFill>
            <a:srgbClr val="FFFFFF"/>
          </a:solidFill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figs/v2_assets/conf-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468880"/>
            <a:ext cx="6400800" cy="275540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1248" y="545288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Re-ran the same case with blade-pitch control frozen (open-loop)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882128" y="2377440"/>
            <a:ext cx="3468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VERDICT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882128" y="2688336"/>
            <a:ext cx="346831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Suggestive but inconclusive. </a:t>
            </a: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wind→heave edge appears, but open-loop overspeed inflates AIS and masks wind in bivariate TE.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882128" y="4425696"/>
            <a:ext cx="346831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882128" y="4572000"/>
            <a:ext cx="3468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next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7882128" y="5157216"/>
            <a:ext cx="34683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TE  TE(wind→Y | wave)  +  a non-overspeeding ablation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METHODS LESSONS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28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DLC-1.6 (11 m/s, severe sea)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made it work — and what nearly broke it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86000"/>
            <a:ext cx="0" cy="292608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860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GPU MADE THE SWEEP TRACTABLE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2606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BE3A3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~35 h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41248" y="35204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case on a single A100-batched run. The OpenCL KSG estimator (validated vs CPU) is what brings the full DLC sweep into reach.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27648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CAUTION — EMBEDDING DELAY MATTERS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27648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171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0.12 → 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327648" y="35204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data-driven τ from self-MI preserved AIS but collapsed the TE edges (τ = 10 zeroed the strongest Wave→PtfmPitch edge). Directed couplings live at specific lags — AIS heuristics don't transfer to TE.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OUTLOOK  ·  HYBRID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29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TE + Sobol · RAFT Saltelli ensemble (Sobol) + IDTxl (TE)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Closing the loop: TE + Sobol → data-driven weights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23265" y="1846744"/>
            <a:ext cx="5129479" cy="336079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figs/v2_assets/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65375"/>
            <a:ext cx="5074920" cy="323243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9536" y="5555009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COMBINED GRAPH — TE + SOBOL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74536" y="1938528"/>
            <a:ext cx="4775911" cy="239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figs/v2_assets/so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057400"/>
            <a:ext cx="4593031" cy="20792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92824" y="4466312"/>
            <a:ext cx="4775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SOBOL Sₜ — DESIGN SENSITIVITY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574536" y="4758920"/>
            <a:ext cx="477591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Mooring length (L_u) and stiffness (EA)</a:t>
            </a: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dominate fairlead tensions and several motions. </a:t>
            </a:r>
            <a:r>
              <a:rPr lang="en-US" sz="12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Column geometry (D_OCol, R_MO)</a:t>
            </a:r>
            <a:r>
              <a:rPr lang="en-US" sz="12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drives surge, sway and heave.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3266" y="5518432"/>
            <a:ext cx="10515600" cy="36577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41248" y="5829728"/>
            <a:ext cx="10509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directed importance maps in one graph — </a:t>
            </a:r>
            <a:r>
              <a:rPr lang="en-US" sz="13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 for environment-driven dynamics, Sobol for design sensitivity</a:t>
            </a: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 data-driven basis for the optimization weights (proposed next step).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534924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420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LIMITATIONS &amp; FUTURE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38767" y="12801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30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41248" y="91440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6382512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643737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 causal discovery on a FOWT (IEA-15MW on UMaine VolturnUS-S) · DLC-1.6 (11 m/s, severe sea)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55887" y="6437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/ 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06070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this goes next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5916168" y="2286000"/>
            <a:ext cx="0" cy="310896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2860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269748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  </a:t>
            </a: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platform (UMaine VolturnUS-S), simulation-only — no field validation.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  </a:t>
            </a: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max_lag = 150 (30 s) may be short for PtfmSurge (decorrelates ~24.6 s).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  </a:t>
            </a:r>
            <a:r>
              <a:rPr lang="en-US" sz="135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Firewall mechanism (controller) is preliminary and confounded — the wind decoupling is shown, its cause is not.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22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27648" y="26974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  </a:t>
            </a: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TE — TE(wind→Y | wave) — to test the firewall beyond the bivariate estimate.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  </a:t>
            </a: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non-overspeeding controller-off ablation to settle the firewall mechanism.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  </a:t>
            </a: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graph: add Sobol design-parameter sensitivity.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  </a:t>
            </a:r>
            <a:r>
              <a:rPr lang="en-US" sz="13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Feed the ranked TE driver→load pathways  </a:t>
            </a:r>
            <a:r>
              <a:rPr lang="en-US" sz="13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into structural/fatigue load weighting for design optimization.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841248"/>
            <a:ext cx="100584" cy="100584"/>
          </a:xfrm>
          <a:prstGeom prst="rect">
            <a:avLst/>
          </a:prstGeom>
          <a:solidFill>
            <a:srgbClr val="BE3A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60704" y="7315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3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55887" y="502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dirty="0">
                <a:solidFill>
                  <a:srgbClr val="CEC9B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7373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Transfer entropy reveals a </a:t>
            </a:r>
            <a:r>
              <a:rPr lang="en-US" sz="34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wave-dominated causal structure</a:t>
            </a:r>
            <a:r>
              <a:rPr lang="en-US" sz="34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FOWT response that linear methods only partially capture.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41248" y="370332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3931920"/>
            <a:ext cx="1050919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  </a:t>
            </a:r>
            <a:r>
              <a:rPr lang="en-US" sz="14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Wave drives platform pitch, heave, surge, tower base and mooring; no wind → structure edge is significant across the 54-case campaign.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  </a:t>
            </a:r>
            <a:r>
              <a:rPr lang="en-US" sz="14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wind decoupling is robust and non-obvious — holding across 8–20 m/s — yet whether the controller causes it is an open, testable question.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  </a:t>
            </a:r>
            <a:r>
              <a:rPr lang="en-US" sz="14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TE and a non-overspeeding controller-off ablation are the path to settle it.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400" dirty="0">
                <a:solidFill>
                  <a:srgbClr val="BE3A3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  </a:t>
            </a:r>
            <a:r>
              <a:rPr lang="en-US" sz="1400" dirty="0">
                <a:solidFill>
                  <a:srgbClr val="171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Next:  </a:t>
            </a:r>
            <a:r>
              <a:rPr lang="en-US" sz="1400" dirty="0">
                <a:solidFill>
                  <a:srgbClr val="171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 this ranking with Sobol design sensitivities to set data-driven weights for design optimization.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1248" y="6263640"/>
            <a:ext cx="10509199" cy="0"/>
          </a:xfrm>
          <a:prstGeom prst="line">
            <a:avLst/>
          </a:prstGeom>
          <a:noFill/>
          <a:ln w="12700">
            <a:solidFill>
              <a:srgbClr val="DAD7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6327648"/>
            <a:ext cx="10509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B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IEA-15MW · UMaine VolturnUS-S · OpenFAST + IDTxl   ·   github.com/sinahdme/fowt-te-causal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3847</Words>
  <Application>Microsoft Office PowerPoint</Application>
  <PresentationFormat>Widescreen</PresentationFormat>
  <Paragraphs>387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Segoe UI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Directional Causality Between Load and Response Variables of a FOWT</dc:title>
  <dc:subject>PptxGenJS Presentation</dc:subject>
  <dc:creator>Sina Hadadi</dc:creator>
  <cp:lastModifiedBy>kunsanuni3</cp:lastModifiedBy>
  <cp:revision>2</cp:revision>
  <dcterms:created xsi:type="dcterms:W3CDTF">2026-06-17T04:43:22Z</dcterms:created>
  <dcterms:modified xsi:type="dcterms:W3CDTF">2026-06-17T05:22:50Z</dcterms:modified>
</cp:coreProperties>
</file>