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F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868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spc="200" kern="0" dirty="0">
                <a:solidFill>
                  <a:srgbClr val="C8D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KWEA 2026 SPRING CONFERENCE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49808" y="1417320"/>
            <a:ext cx="11155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Directional Causality Between Load and</a:t>
            </a:r>
            <a:endParaRPr lang="en-US" sz="3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Response Variables of a FOWT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49808" y="2670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9FB0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via Time-Domain Transfer Entropy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49808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2026. 06. 22</a:t>
            </a:r>
            <a:pPr indent="0" marL="0">
              <a:buNone/>
            </a:pPr>
            <a:r>
              <a:rPr lang="en-US" sz="1450" dirty="0">
                <a:solidFill>
                  <a:srgbClr val="9FB0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|   IEA-15MW · UMaine VolturnUS-S · OpenFAST + IDTxl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49808" y="4069080"/>
            <a:ext cx="10692079" cy="0"/>
          </a:xfrm>
          <a:prstGeom prst="line">
            <a:avLst/>
          </a:prstGeom>
          <a:noFill/>
          <a:ln w="12700">
            <a:solidFill>
              <a:srgbClr val="3A5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4251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Laboratory of Autonomous Maritime Systems (LAMS) · Dept. of Naval Architecture &amp; Ocean Engineering, Kunsan National University
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Sina Hadadi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8D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·   Advisor — Prof. Jackyou Noh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9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63056"/>
            <a:ext cx="1158903" cy="502920"/>
          </a:xfrm>
          <a:prstGeom prst="rect">
            <a:avLst/>
          </a:prstGeom>
        </p:spPr>
      </p:pic>
      <p:pic>
        <p:nvPicPr>
          <p:cNvPr id="10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916" y="6163056"/>
            <a:ext cx="1007852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 — RL context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Design optimization as reinforcement learning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965960"/>
            <a:ext cx="3383280" cy="178308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5875">
            <a:solidFill>
              <a:srgbClr val="0B2F6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95528" y="2130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95528" y="2532888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Actor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policy π(a|s)</a:t>
            </a:r>
            <a:endParaRPr lang="en-US" sz="125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value V(s)</a:t>
            </a:r>
            <a:endParaRPr lang="en-US" sz="125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actor–critic · TD-error updates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241487" y="1965960"/>
            <a:ext cx="3383280" cy="178308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15875">
            <a:solidFill>
              <a:srgbClr val="0B2F6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70087" y="2130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470087" y="2532888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RAFT coupled simulator</a:t>
            </a:r>
            <a:endParaRPr lang="en-US" sz="125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aero · hydro · servo · moor</a:t>
            </a:r>
            <a:endParaRPr lang="en-US" sz="125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evaluates each design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3950208" y="2194560"/>
            <a:ext cx="4291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action  </a:t>
            </a:r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aₜ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087368" y="2606040"/>
            <a:ext cx="4016959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4087368" y="3246120"/>
            <a:ext cx="4016959" cy="0"/>
          </a:xfrm>
          <a:prstGeom prst="line">
            <a:avLst/>
          </a:prstGeom>
          <a:noFill/>
          <a:ln w="254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9" name="Text 15"/>
          <p:cNvSpPr/>
          <p:nvPr/>
        </p:nvSpPr>
        <p:spPr>
          <a:xfrm>
            <a:off x="3950208" y="3337560"/>
            <a:ext cx="4291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sₜ₊₁    </a:t>
            </a:r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reward rₜ₊₁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416052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66928" y="429768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REWARD  ·  rₜ₊₁ — the one signal the agent maximizes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566928" y="470916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reward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encodes the design objectives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(mass ↓, resonance avoidance, peak-response ↓), and its weights decide which objective wins — exactly what we examine next.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 — the problem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Why these weights? From hand-set to data-driven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783080"/>
            <a:ext cx="11057839" cy="868680"/>
          </a:xfrm>
          <a:prstGeom prst="rect">
            <a:avLst/>
          </a:prstGeom>
          <a:solidFill>
            <a:srgbClr val="F2F4F8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78308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Reward =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X₁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·ΔMass +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X₂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·ΔResonance +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X₃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·ΔPitch_peak +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X₄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·ΔHeave_peak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566928" y="27432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Weights X₁…X₄ are set by hand in our RL substructure design optimization (cost, power, constraint priority) — not from data.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16168" y="3383280"/>
            <a:ext cx="0" cy="246888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33832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GAP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66928" y="3767328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Weights rank variable importance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by hand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 No objective basis for which responses matter most, or how strongly each is driven by the environment.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236208" y="338328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DATA-DRIVEN BASIS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236208" y="3767328"/>
            <a:ext cx="5388559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(TE)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which environmental drivers causally drive each response</a:t>
            </a:r>
            <a:endParaRPr lang="en-US" sz="135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Sobol sensitivity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which design parameters move each response</a:t>
            </a:r>
            <a:endParaRPr lang="en-US" sz="135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Together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 data-driven basis for the weights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 — association to causation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From association to directed causation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Correlation / coherence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Symmetric and undirected — quantifies association. γ²(f) tells you wind and a load share power at a frequency,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which drives which.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Directed, nonlinear, model-free. Measures information a source's past adds about a target's future,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beyond the target's own past.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QUESTION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Which environmental driver — wind or wave — causally drives each structural response, and which coupling pathways do linear methods miss?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 — correlation ≠ causation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Correlation is not causation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Ice-cream sales and drownings rise together — both driven by summer heat. Strong correlation, zero causation. corr(A,B) = corr(B,A) carries no arrow.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direction needs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real cause must precede its effect in time, and the link must survive once the target's own history and shared drivers are accounted for.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 A COUPLED SYSTEM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 turbulence or a floating turbine, dozens of channels move together. Eyeballing what drives what is hopeless — we need a directed, model-free measure.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building blocks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Entropy and information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Shannon entropy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58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H(X) = −Σ p(x) log p(x)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66928" y="26974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 uncertainty — the “surprise” in a signal. Zero when the outcome is certain, maximal when all outcomes are equally likely.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Mutual information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236208" y="2258568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I(X;Y) = H(X) + H(Y) − H(X,Y)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236208" y="2697480"/>
            <a:ext cx="53885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information shared between X and Y — how much knowing one reduces uncertainty about the other.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CATCH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Mutual information is symmetric: I(X;Y) = I(Y;X). It cannot say which variable drives which — the gap transfer entropy is built to close.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defined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Transfer entropy, defined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783080"/>
            <a:ext cx="11057839" cy="731520"/>
          </a:xfrm>
          <a:prstGeom prst="rect">
            <a:avLst/>
          </a:prstGeom>
          <a:solidFill>
            <a:srgbClr val="F2F4F8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78308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E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TE(X→Y) = H(Y_f | Y_p) − H(Y_f | Y_p, X_p)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916168" y="2743200"/>
            <a:ext cx="0" cy="155448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66928" y="27432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definition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66928" y="3127248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Y_f = target's future · Y_p = target's past · X_p = source's past. How much the source's past sharpens the prediction of the target's next step, beyond its own history.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236208" y="274320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conditioning trick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236208" y="3127248"/>
            <a:ext cx="53885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Conditioning on Y's own past removes self-prediction and shared history — only genuinely new information from X survives. That makes TE directed: TE(X→Y) ≠ TE(Y→X).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46634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48006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 PROPERTIES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66928" y="51663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 ≥ 0, and TE = 0 means no transfer. Asymmetric by design, and for linear-Gaussian signals it reduces exactly to Granger causality (Barnett et al. 2009). Definition: Schreiber (2000).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estimation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Estimating TE without binning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Nearest neighbours, not bins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 is a conditional mutual information. The Kraskov–Stögbauer–Grassberger (KSG) estimator counts k nearest neighbours (k = 4) in the joint space — no histogram, no bin count to choose.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it suits our data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Adaptive resolution on continuous signals; captures nonlinear dependence Gaussian methods miss. Reported in nats (natural log), not bits — the same quantity. Kraskov et al. (2004).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 THE PIPELINE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 run KSG (k = 4) with a non-uniform embedding (max_lag = 150 ≈ one slow-drift cycle), GPU-accelerated through IDTxl (Wollstadt et al. 2019).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embedding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Time delay τ and the embedding window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Delay vectors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 represents the recent past as a delay vector: Y_past = [y(t−τ), y(t−2τ), …, y(t−max_lag)]. τ sets the spacing between lags; max_lag sets how far back the test looks.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settings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max_lag = 150 samples ≈ 30 s at 5 Hz — one platform slow-drift cycle. τ=1 keeps every lag and a greedy search picks the few that matter; τ=5 thins ~150 candidates to ~30.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BOTH MATTER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 short a window misses slow-drift; too fine a lag grid makes the greedy search explode. Together τ and max_lag decide which lags the causal test can even see.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τ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τ is not a free knob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tempting shortcut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common heuristic sets τ from the first minimum of a signal's self-mutual-information (the AIS-optimal delay). It preserves self-predictability (AIS) well.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…that breaks TE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 a self-MI τ = 10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zeroed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the strongest Wave→PtfmPitch edge. Directed couplings live at specific lags that self-prediction heuristics miss — optimal for AIS is not optimal for transfer.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ROLES FOR τ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τ is both a modelling choice (which lags the test sees) and a compute lever — the slow-drift platform channels only finish at τ = 5. We validate any τ &gt; 1 against the τ = 1 baseline.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significance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Is the transfer real? Surrogate testing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null hypothesis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KSG TE is never exactly zero — finite-sample noise leaves a small positive value. So we ask: is the measured TE larger than chance, if there were no coupling?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Circular-shift surrogates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Rotate the source in time (n = 200), destroying its timing with the target while keeping its spectrum. p = fraction of surrogates beating the real TE; keep edges with p &lt; 0.05.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CIRCULAR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circular shift keeps the source's own spectrum and amplitude intact and removes only the X→Y timing — a strict, honest null that avoids false positives.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intuition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A toy example: who drives whom?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3317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585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F4E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X[i] = 0.5·X[i−1] + noise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F4E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Y[i] = 0.5·X[i−1] + noise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928" y="3017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is autonomous; Y responds to X's past. Both look like random noise to the eye.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TE recovers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236208" y="2258568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TE(X→Y) ≫ TE(Y→X)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236208" y="2743200"/>
            <a:ext cx="538855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asymmetry correctly flags X as the driver — something a symmetric correlation could never reveal.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44348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45720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TAKEAWAY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66928" y="4983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Direction emerges from the conditioning, not from the raw signals — exactly the test we run on wind, wave and structural channels.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comparison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Three ways to measure dependence ]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566928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Correlation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66928" y="2258568"/>
            <a:ext cx="338114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Strength of linear association. corr(X,Y) = corr(Y,X) — symmetric.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66928" y="37490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Directional ✗   Nonlinear ✗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176674" y="1874520"/>
            <a:ext cx="0" cy="21031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05274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Granger causality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405274" y="2258568"/>
            <a:ext cx="338114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Does X's past improve a linear forecast of Y? Directed, but assumes a linear (VAR) model. Granger 1969 · Nobel 2003.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05274" y="37490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Directional ✓   Nonlinear ✗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015021" y="1874520"/>
            <a:ext cx="0" cy="210312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43621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243621" y="2258568"/>
            <a:ext cx="338114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Does X's past reduce uncertainty about Y's future? Model-free, no distributional assumption. Schreiber 2000.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8243621" y="374904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Directional ✓   Nonlinear ✓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66928" y="429768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6928" y="443484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566928" y="484632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is the only one that is both directed and nonlinear. For linear-Gaussian processes it reduces exactly to Granger causality (Barnett et al. 2009) — so it earns its keep where the dynamics are nonlinear or non-Gaussian.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vs Granger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Transfer entropy and Granger causality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19456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Granger causality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Linear autoregressive (VAR) model. Fast and well-understood, but assumes linearity and (often) Gaussian statistics — misses nonlinear coupling.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Model-free, no distributional assumption, captures any nonlinearity. Costlier (k-NN estimation) and hungrier for data.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29768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43484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 THEY AGREE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84632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 linear-Gaussian processes the two are exactly equivalent (Barnett et al. 2009). TE earns its keep only where the dynamics are nonlinear or non-Gaussian — which is why we run both.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— when it pays off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When does transfer entropy pay off? ]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566928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Linear / Gaussian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66928" y="2258568"/>
            <a:ext cx="338114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 = Granger causality exactly (Barnett 2009). No added value — use the simpler method.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176674" y="1874520"/>
            <a:ext cx="0" cy="182880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05274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Nonlinear / non-Gaussian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05274" y="2258568"/>
            <a:ext cx="338114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Captures directed structure linear methods cannot see. This is its sweet spot.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15021" y="1874520"/>
            <a:ext cx="0" cy="182880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43621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Very high-dimensional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243621" y="2258568"/>
            <a:ext cx="338114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Many coupled modes degrade the k-NN estimate — curse of dimensionality, data starvation.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42062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6928" y="43434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66928" y="475488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floating turbine in irregular waves with a nonlinear ROSCO controller sits squarely in the middle regime — nonlinear and non-Gaussian — where transfer entropy adds the most.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F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5544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Shape 1"/>
          <p:cNvSpPr/>
          <p:nvPr/>
        </p:nvSpPr>
        <p:spPr>
          <a:xfrm>
            <a:off x="932688" y="3017520"/>
            <a:ext cx="1280160" cy="45720"/>
          </a:xfrm>
          <a:prstGeom prst="rect">
            <a:avLst/>
          </a:prstGeom>
          <a:solidFill>
            <a:srgbClr val="E6A23C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50976" y="4114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D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coupled wind–wave–structure–mooring system and the simulation campaign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 — system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IEA-15MW FOWT, simulated in OpenFAST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783080"/>
            <a:ext cx="5303520" cy="3355938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open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920240"/>
            <a:ext cx="5029200" cy="308161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66928" y="524874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OpenFAST — coupled aero-hydro-servo-elastic modules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6419088" y="182880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PLATFORM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6419088" y="2157984"/>
            <a:ext cx="52056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IEA-15-240-RWT on the UMaine VolturnUS-S semisubmersible; coupled aero-hydro-servo-elastic OpenFAST model.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419088" y="3136392"/>
            <a:ext cx="520567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419088" y="324612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SIGNALS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419088" y="3575304"/>
            <a:ext cx="52056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3600 s simulation · drop 600 s transient · decimate to 5 Hz.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19088" y="4553712"/>
            <a:ext cx="520567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419088" y="466344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CHANNELS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419088" y="4992624"/>
            <a:ext cx="52056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sources (Wind1VelX, Wave1Elev) → 9 responses (RootMyc1, RootMxc1, TwrBsMyt, PtfmHeave/Surge/Pitch, FAIRTEN1/2/3).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 — design load cases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The simulation campaign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2712568" y="1783080"/>
            <a:ext cx="7040880" cy="3927970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dlc-matri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728" y="1920240"/>
            <a:ext cx="6766560" cy="36536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712568" y="582077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DLC-A / DLC-B / DLC-1.6 across the operating-point sweep (8/11/15/20 m/s, 6 seeds) — 54 cases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 — environment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Wind and wave inputs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19456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 — TurbSim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IEC Kaimal (IECKAI) spectrum, Normal Turbulence Model, class B, power-law shear, referenced at hub height. URef = 8 / 11 / 15 / 20 m/s.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Waves — JONSWAP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Irregular JONSWAP sea (SeaState). Hs/Tp scale with wind: (3.5 m, 9 s) → (8.0 m, 13 s). DLC-1.6 severe sea: Hs = 8.3 m, Tp = 12.95 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29768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43484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THE RANDOM SEEDS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84632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DLC-A/1.6 reuse the wind seed for the wave generator; DLC-B draws an independent one. In OpenFAST, wind (TurbSim) and waves (HydroDyn) are generated separately, so the seed fixes reproducibility — not wind–wave correlation.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 — preprocessing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Why 5 Hz is enough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28600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 · platform (low freq.)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Slow-drift 0.01–0.1 Hz · wave 1st-order 0.05–0.3 Hz (JONSWAP peak 0.077) · eigenmodes pitch 0.0345 / heave 0.05 / surge 0.01 Hz · wind low-freq. eddies 0.01–1 Hz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Rotor · structure (high freq.)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1P / 3P rotor ~0.15 / 0.45 Hz · tower fore-aft 1st mode ~0.5 Hz · blade-flap mode ~0.6 Hz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66928" y="438912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52628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BOTTOM LINE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93776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Down-sample 40 Hz → 5 Hz (×8). Nyquist = 2.5 Hz sits well above the highest band (~0.6 Hz), so every causal signal is preserved while the KSG sweep drops ~8×.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 — pipeline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Directed transfer, with linear baselines ]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566928" y="176479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1115568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KSG transfer entropy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115568" y="211226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Kraskov estimator (k = 4), non-uniform embedding, max_lag = 150 (30 s — one slow-drift cycle).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66928" y="284378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1115568" y="28620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Significance · effect size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115568" y="3191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Circular-shift surrogates ×200, p &lt; 0.05 (max-stat). Normalized: te_frac = TE / (H(Y) − AIS(Y)).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66928" y="392277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1115568" y="39410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Linear baselines, same pipeline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115568" y="427024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Gaussian / Granger (estimator swap) + magnitude-squared coherence γ²(f).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66928" y="500176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1115568" y="50200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Compute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1115568" y="5349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OpenCL on 2× A100; GPU validated vs CPU (AIS RootMyc1 1.50 vs 1.49).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510528" y="2011680"/>
            <a:ext cx="4846320" cy="2873524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23" name="Image 2" descr="figs/v2_assets/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148840"/>
            <a:ext cx="4572000" cy="259920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510528" y="49949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TE pipeline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 &amp; Data — what TE measures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What transfer entropy measures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3169768" y="1737360"/>
            <a:ext cx="6126480" cy="3138813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concep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6928" y="1874520"/>
            <a:ext cx="5852160" cy="2864493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66928" y="48920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66928" y="507492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 one line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 the source's past sharpens the prediction of the target beyond the target's own history, information flows source → target. Directed (X→Y ≠ Y→X) and nonlinear — what correlation and coherence cannot see.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F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5544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Shape 1"/>
          <p:cNvSpPr/>
          <p:nvPr/>
        </p:nvSpPr>
        <p:spPr>
          <a:xfrm>
            <a:off x="932688" y="3017520"/>
            <a:ext cx="1280160" cy="45720"/>
          </a:xfrm>
          <a:prstGeom prst="rect">
            <a:avLst/>
          </a:prstGeom>
          <a:solidFill>
            <a:srgbClr val="E6A23C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&amp; Conclusion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50976" y="4114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D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wave-dominated causal structure, and the wind paradox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— causal network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A wave-dominated causal graph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783080"/>
            <a:ext cx="5760720" cy="3890932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te-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920240"/>
            <a:ext cx="5486400" cy="361661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66928" y="578374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 causal network · bivariate KSG, weight = mean te_frac across all 54 cases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6739128" y="1920240"/>
            <a:ext cx="48856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READING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6739128" y="2304288"/>
            <a:ext cx="48856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 elevation drives every significant response (pitch · heave · surge · tower base · mooring).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 shows no significant directed transfer to the structure.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739128" y="3721608"/>
            <a:ext cx="48856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739128" y="3831336"/>
            <a:ext cx="4885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3400" dirty="0"/>
          </a:p>
        </p:txBody>
      </p:sp>
      <p:sp>
        <p:nvSpPr>
          <p:cNvPr id="17" name="Text 12"/>
          <p:cNvSpPr/>
          <p:nvPr/>
        </p:nvSpPr>
        <p:spPr>
          <a:xfrm>
            <a:off x="6739128" y="4398264"/>
            <a:ext cx="4885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significant edges — every one from wave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739128" y="4855464"/>
            <a:ext cx="48856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739128" y="5422392"/>
            <a:ext cx="4885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significant wind → structure edges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— significant edges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The significant edges — 7 of 18 ]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2011680"/>
            <a:ext cx="6400800" cy="3104103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conf-windwave-b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148840"/>
            <a:ext cx="6126480" cy="282978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66928" y="5225511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Significant directed transfer (nats) — wave only, mean across 54 cases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333488" y="2103120"/>
            <a:ext cx="4291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 DRIVES THE STRUCTURE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33488" y="2487168"/>
            <a:ext cx="429127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five strongest edges (pitch, heave, the forward fairleads and surge) cluster at 0.11–0.12 nats.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 wind → structure edge is significant anywhere in the campaign.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333488" y="4407408"/>
            <a:ext cx="429127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333488" y="4517136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/ 18</a:t>
            </a:r>
            <a:endParaRPr lang="en-US" sz="3000" dirty="0"/>
          </a:p>
        </p:txBody>
      </p:sp>
      <p:sp>
        <p:nvSpPr>
          <p:cNvPr id="17" name="Text 12"/>
          <p:cNvSpPr/>
          <p:nvPr/>
        </p:nvSpPr>
        <p:spPr>
          <a:xfrm>
            <a:off x="7333488" y="5065776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significant wind edges — wave drives all seven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— triangulation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TE vs. coherence vs. Granger ]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566928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Coherence γ²(f)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66928" y="2258568"/>
            <a:ext cx="338114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Undirected spectral ceiling. Shared power, no direction.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176674" y="1874520"/>
            <a:ext cx="0" cy="182880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05274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Gaussian / Granger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05274" y="2258568"/>
            <a:ext cx="338114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Directional but linear. Over-detects under correlated wind–wave.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15021" y="1874520"/>
            <a:ext cx="0" cy="182880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43621" y="1874520"/>
            <a:ext cx="3381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243621" y="2258568"/>
            <a:ext cx="338114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Directed AND nonlinear. Catches couplings the others miss.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420624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6928" y="434340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READING THE TRIANGLE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66928" y="475488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TE is significant but the linear baselines are not = nonlinear directed coupling unique to TE (e.g. the wave 2nd-order difference-frequency forcing of pitch). Where all three agree, the embedding is validated.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— the wind paradox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The wind paradox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146304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PUZZLE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58568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 → structure ≈ 0 across 8–20 m/s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yet wind is what drives the turbine. Counter-intuitive, and it holds at every operating point.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AN ARTIFACT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58568"/>
            <a:ext cx="538855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 decorrelates at ~11.6 s — well inside the 30 s embedding window. The wind signal is sampled; it simply isn't transferring information to the structure.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402336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416052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HYPOTHESIS — A CONTROLLER “FIREWALL”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66928" y="457200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blade-pitch controller (ROSCO) regulates rotor thrust so tightly that wind fluctuations are rejected before they reach the platform. The controller acts as a causal firewall — wind energizes the rotor, not the 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— firewall ablation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Testing the firewall — controller-off ablation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965960"/>
            <a:ext cx="6675120" cy="3029722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conf-abl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103120"/>
            <a:ext cx="6400800" cy="275540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66928" y="5105410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Re-ran the same case with blade-pitch control frozen (open-loop)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607808" y="2103120"/>
            <a:ext cx="4016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VERDICT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607808" y="2487168"/>
            <a:ext cx="40169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Suggestive but inconclusive.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wind→heave edge appears, but open-loop overspeed inflates AIS and masks wind in bivariate TE.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607808" y="4315968"/>
            <a:ext cx="401695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607808" y="4462272"/>
            <a:ext cx="4016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7607808" y="4965192"/>
            <a:ext cx="401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conditional TE  TE(wind→Y | wave)  +  a non-overspeeding ablation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— methods lessons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What made it work — and what nearly broke it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274320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MADE THE SWEEP TRACTABLE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1945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~35 h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566928" y="30632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 case on a single A100-batched run. The OpenCL KSG estimator (validated vs CPU) is what brings the full DLC sweep into reach.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CAUTION — EMBEDDING DELAY MATTERS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236208" y="2194560"/>
            <a:ext cx="53885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0.12 → 0</a:t>
            </a:r>
            <a:endParaRPr lang="en-US" sz="4000" dirty="0"/>
          </a:p>
        </p:txBody>
      </p:sp>
      <p:sp>
        <p:nvSpPr>
          <p:cNvPr id="16" name="Text 12"/>
          <p:cNvSpPr/>
          <p:nvPr/>
        </p:nvSpPr>
        <p:spPr>
          <a:xfrm>
            <a:off x="6236208" y="3063240"/>
            <a:ext cx="53885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data-driven τ from self-MI preserved AIS but collapsed the TE edges (τ = 10 zeroed the strongest Wave→PtfmPitch). Directed couplings live at specific lags — AIS heuristics don't transfer to TE.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 — TE + Sobol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Closing the loop: TE + Sobol → data-driven weights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1783080"/>
            <a:ext cx="5303520" cy="3477632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1" name="Image 2" descr="figs/v2_assets/combin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920240"/>
            <a:ext cx="5029200" cy="320331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66928" y="537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COMBINED GRAPH — TE + Sobol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419088" y="1783080"/>
            <a:ext cx="5205679" cy="2506714"/>
          </a:xfrm>
          <a:prstGeom prst="rect">
            <a:avLst/>
          </a:prstGeom>
          <a:solidFill>
            <a:srgbClr val="FFFFFF"/>
          </a:solidFill>
          <a:ln w="15875">
            <a:solidFill>
              <a:srgbClr val="D6D6D6"/>
            </a:solidFill>
            <a:prstDash val="solid"/>
          </a:ln>
        </p:spPr>
      </p:sp>
      <p:pic>
        <p:nvPicPr>
          <p:cNvPr id="14" name="Image 3" descr="figs/v2_assets/sobo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920240"/>
            <a:ext cx="4931359" cy="223239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19088" y="4399522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Sobol Sₜ — design sensitivity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6419088" y="4655554"/>
            <a:ext cx="52056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Mooring length (L_u) and stiffness (EA)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dominate fairlead tensions and several motions.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Column geometry (D_OCol, R_MO)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drives surge, sway and heave.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66928" y="5532120"/>
            <a:ext cx="11057839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66928" y="566928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directed importance maps in one graph —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 for environment-driven dynamics, Sobol for design sensitivity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 data-driven basis for the optimization weights (proposed next step).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377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03504" y="786384"/>
            <a:ext cx="530352" cy="0"/>
          </a:xfrm>
          <a:prstGeom prst="line">
            <a:avLst/>
          </a:prstGeom>
          <a:noFill/>
          <a:ln w="31750">
            <a:solidFill>
              <a:srgbClr val="0B2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81328" y="2377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 — limitations &amp; future</a:t>
            </a:r>
            <a:endParaRPr lang="en-US" sz="2300" dirty="0"/>
          </a:p>
        </p:txBody>
      </p:sp>
      <p:pic>
        <p:nvPicPr>
          <p:cNvPr id="5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1219" y="274320"/>
            <a:ext cx="1053548" cy="457200"/>
          </a:xfrm>
          <a:prstGeom prst="rect">
            <a:avLst/>
          </a:prstGeom>
        </p:spPr>
      </p:pic>
      <p:pic>
        <p:nvPicPr>
          <p:cNvPr id="6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399" y="274320"/>
            <a:ext cx="916229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969264"/>
            <a:ext cx="11057839" cy="0"/>
          </a:xfrm>
          <a:prstGeom prst="line">
            <a:avLst/>
          </a:prstGeom>
          <a:noFill/>
          <a:ln w="15875">
            <a:solidFill>
              <a:srgbClr val="D6D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893247" y="6455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1143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Where this goes next ]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916168" y="1874520"/>
            <a:ext cx="0" cy="310896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18745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" y="228600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 platform (UMaine VolturnUS-S), simulation-only — no field validation.</a:t>
            </a:r>
            <a:endParaRPr lang="en-US" sz="130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max_lag = 150 (30 s) may be short for PtfmSurge (decorrelates ~24.6 s).</a:t>
            </a:r>
            <a:endParaRPr lang="en-US" sz="130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Firewall mechanism (controller) is preliminary and confounded — the wind decoupling is shown, its cause is not.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236208" y="1874520"/>
            <a:ext cx="53885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36208" y="2286000"/>
            <a:ext cx="5388559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Conditional TE — TE(wind→Y | wave) — to test the firewall beyond the bivariate estimate.</a:t>
            </a:r>
            <a:endParaRPr lang="en-US" sz="130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non-overspeeding controller-off ablation to settle the mechanism.</a:t>
            </a:r>
            <a:endParaRPr lang="en-US" sz="130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Hybrid graph: add Sobol design-parameter sensitivity.</a:t>
            </a:r>
            <a:endParaRPr lang="en-US" sz="1300" dirty="0"/>
          </a:p>
          <a:p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F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Feed the ranked TE driver→load pathways</a:t>
            </a:r>
            <a:pPr indent="0" marL="0">
              <a:lnSpc>
                <a:spcPct val="132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into structural/fatigue load weighting for design optimization.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2F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0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49808" y="1325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entropy reveals a </a:t>
            </a:r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7FB0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wave-dominated causal structure</a:t>
            </a:r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in FOWT response that linear methods only partially capture.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49808" y="3108960"/>
            <a:ext cx="10692079" cy="0"/>
          </a:xfrm>
          <a:prstGeom prst="line">
            <a:avLst/>
          </a:prstGeom>
          <a:noFill/>
          <a:ln w="12700">
            <a:solidFill>
              <a:srgbClr val="3A5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3291840"/>
            <a:ext cx="1069207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 </a:t>
            </a:r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dirty="0">
                <a:solidFill>
                  <a:srgbClr val="DDE5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 drives platform pitch, heave, surge, tower base and mooring; no significant wind → structure edge across the 54-case campaign.</a:t>
            </a:r>
            <a:endParaRPr lang="en-US" sz="145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 </a:t>
            </a:r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dirty="0">
                <a:solidFill>
                  <a:srgbClr val="DDE5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wind decoupling is robust and non-obvious — holding across 8–20 m/s — yet whether the controller causes it is an open, testable question.</a:t>
            </a:r>
            <a:endParaRPr lang="en-US" sz="145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 </a:t>
            </a:r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dirty="0">
                <a:solidFill>
                  <a:srgbClr val="DDE5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Conditional TE and a non-overspeeding ablation are the path to settle it.</a:t>
            </a:r>
            <a:endParaRPr lang="en-US" sz="145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 </a:t>
            </a:r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450" dirty="0">
                <a:solidFill>
                  <a:srgbClr val="DDE5F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Next: pair this ranking with Sobol design sensitivities to set data-driven weights for design optimization.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figs/lab_assets/ks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63640"/>
            <a:ext cx="1011406" cy="438912"/>
          </a:xfrm>
          <a:prstGeom prst="rect">
            <a:avLst/>
          </a:prstGeom>
        </p:spPr>
      </p:pic>
      <p:pic>
        <p:nvPicPr>
          <p:cNvPr id="8" name="Image 1" descr="figs/lab_assets/l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188" y="6263640"/>
            <a:ext cx="879580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github.com/sinahdme/fowt-te-causal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Directional Causality Between Load and Response Variables of a FOWT</dc:title>
  <dc:subject>PptxGenJS Presentation</dc:subject>
  <dc:creator>Sina Hadadi</dc:creator>
  <cp:lastModifiedBy>Sina Hadadi</cp:lastModifiedBy>
  <cp:revision>1</cp:revision>
  <dcterms:created xsi:type="dcterms:W3CDTF">2026-06-17T07:01:38Z</dcterms:created>
  <dcterms:modified xsi:type="dcterms:W3CDTF">2026-06-17T07:01:38Z</dcterms:modified>
</cp:coreProperties>
</file>