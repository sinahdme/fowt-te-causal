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F6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868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C8D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한국풍력에너지학회 2026 춘계학술대회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49808" y="1417320"/>
            <a:ext cx="11155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부유식 해상풍력터빈 하중–응답 변수 간</a:t>
            </a:r>
            <a:endParaRPr lang="en-US" sz="3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방향성 인과관계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49808" y="2670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9FB0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시간영역 전달 엔트로피(Transfer Entropy) 기반 분석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49808" y="3520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2026. 06. 22</a:t>
            </a:r>
            <a:pPr indent="0" marL="0">
              <a:buNone/>
            </a:pPr>
            <a:r>
              <a:rPr lang="en-US" sz="1450" dirty="0">
                <a:solidFill>
                  <a:srgbClr val="9FB0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|   IEA-15MW · UMaine VolturnUS-S · OpenFAST + IDTxl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49808" y="4069080"/>
            <a:ext cx="10692079" cy="0"/>
          </a:xfrm>
          <a:prstGeom prst="line">
            <a:avLst/>
          </a:prstGeom>
          <a:noFill/>
          <a:ln w="12700">
            <a:solidFill>
              <a:srgbClr val="3A5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42519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국립군산대학교 자율운항해양시스템연구실(LAMS) · 조선해양공학과
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Sina Hadadi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8D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·   지도교수  노재규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9" name="Image 0" descr="figs/lab_assets/ksn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163056"/>
            <a:ext cx="1158903" cy="502920"/>
          </a:xfrm>
          <a:prstGeom prst="rect">
            <a:avLst/>
          </a:prstGeom>
        </p:spPr>
      </p:pic>
      <p:pic>
        <p:nvPicPr>
          <p:cNvPr id="10" name="Image 1" descr="figs/lab_assets/lam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6916" y="6163056"/>
            <a:ext cx="1007852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3504" y="786384"/>
            <a:ext cx="530352" cy="0"/>
          </a:xfrm>
          <a:prstGeom prst="line">
            <a:avLst/>
          </a:prstGeom>
          <a:noFill/>
          <a:ln w="31750">
            <a:solidFill>
              <a:srgbClr val="0B2F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81328" y="23774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Background — RL 맥락</a:t>
            </a:r>
            <a:endParaRPr lang="en-US" sz="2300" dirty="0"/>
          </a:p>
        </p:txBody>
      </p:sp>
      <p:pic>
        <p:nvPicPr>
          <p:cNvPr id="5" name="Image 0" descr="figs/lab_assets/ksn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1219" y="274320"/>
            <a:ext cx="1053548" cy="457200"/>
          </a:xfrm>
          <a:prstGeom prst="rect">
            <a:avLst/>
          </a:prstGeom>
        </p:spPr>
      </p:pic>
      <p:pic>
        <p:nvPicPr>
          <p:cNvPr id="6" name="Image 1" descr="figs/lab_assets/lam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0399" y="274320"/>
            <a:ext cx="916229" cy="457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66928" y="969264"/>
            <a:ext cx="11057839" cy="0"/>
          </a:xfrm>
          <a:prstGeom prst="line">
            <a:avLst/>
          </a:prstGeom>
          <a:noFill/>
          <a:ln w="15875">
            <a:solidFill>
              <a:srgbClr val="D6D6D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893247" y="645566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66928" y="11430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설계 최적화를 강화학습으로 ]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566928" y="1965960"/>
            <a:ext cx="3383280" cy="1783080"/>
          </a:xfrm>
          <a:prstGeom prst="roundRect">
            <a:avLst>
              <a:gd name="adj" fmla="val 3077"/>
            </a:avLst>
          </a:prstGeom>
          <a:solidFill>
            <a:srgbClr val="F2F4F8"/>
          </a:solidFill>
          <a:ln w="15875">
            <a:solidFill>
              <a:srgbClr val="0B2F6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95528" y="21305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에이전트 (Agent)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795528" y="2532888"/>
            <a:ext cx="2926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pPr indent="0" marL="0">
              <a:lnSpc>
                <a:spcPct val="132000"/>
              </a:lnSpc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Actor</a:t>
            </a:r>
            <a:pPr indent="0" marL="0">
              <a:lnSpc>
                <a:spcPct val="132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정책 π(a|s)</a:t>
            </a:r>
            <a:endParaRPr lang="en-US" sz="1250" dirty="0"/>
          </a:p>
          <a:p>
            <a:pPr indent="0" marL="0">
              <a:lnSpc>
                <a:spcPct val="132000"/>
              </a:lnSpc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pPr indent="0" marL="0">
              <a:lnSpc>
                <a:spcPct val="132000"/>
              </a:lnSpc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Critic</a:t>
            </a:r>
            <a:pPr indent="0" marL="0">
              <a:lnSpc>
                <a:spcPct val="132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가치함수 V(s)</a:t>
            </a:r>
            <a:endParaRPr lang="en-US" sz="1250" dirty="0"/>
          </a:p>
          <a:p>
            <a:pPr indent="0" marL="0">
              <a:lnSpc>
                <a:spcPct val="132000"/>
              </a:lnSpc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pPr indent="0" marL="0">
              <a:lnSpc>
                <a:spcPct val="132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actor–critic · TD-오차 갱신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241487" y="1965960"/>
            <a:ext cx="3383280" cy="1783080"/>
          </a:xfrm>
          <a:prstGeom prst="roundRect">
            <a:avLst>
              <a:gd name="adj" fmla="val 3077"/>
            </a:avLst>
          </a:prstGeom>
          <a:solidFill>
            <a:srgbClr val="F2F4F8"/>
          </a:solidFill>
          <a:ln w="15875">
            <a:solidFill>
              <a:srgbClr val="0B2F6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470087" y="21305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 (Environment)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8470087" y="2532888"/>
            <a:ext cx="2926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pPr indent="0" marL="0">
              <a:lnSpc>
                <a:spcPct val="132000"/>
              </a:lnSpc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RAFT 연성 시뮬레이터</a:t>
            </a:r>
            <a:endParaRPr lang="en-US" sz="1250" dirty="0"/>
          </a:p>
          <a:p>
            <a:pPr indent="0" marL="0">
              <a:lnSpc>
                <a:spcPct val="132000"/>
              </a:lnSpc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pPr indent="0" marL="0">
              <a:lnSpc>
                <a:spcPct val="132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aero · hydro · servo · moor</a:t>
            </a:r>
            <a:endParaRPr lang="en-US" sz="1250" dirty="0"/>
          </a:p>
          <a:p>
            <a:pPr indent="0" marL="0">
              <a:lnSpc>
                <a:spcPct val="132000"/>
              </a:lnSpc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pPr indent="0" marL="0">
              <a:lnSpc>
                <a:spcPct val="132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설계안을 평가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3950208" y="2194560"/>
            <a:ext cx="42912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action  </a:t>
            </a:r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aₜ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087368" y="2606040"/>
            <a:ext cx="4016959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4087368" y="3246120"/>
            <a:ext cx="4016959" cy="0"/>
          </a:xfrm>
          <a:prstGeom prst="line">
            <a:avLst/>
          </a:prstGeom>
          <a:noFill/>
          <a:ln w="2540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9" name="Text 15"/>
          <p:cNvSpPr/>
          <p:nvPr/>
        </p:nvSpPr>
        <p:spPr>
          <a:xfrm>
            <a:off x="3950208" y="3337560"/>
            <a:ext cx="42912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 sₜ₊₁    </a:t>
            </a:r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reward rₜ₊₁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66928" y="4160520"/>
            <a:ext cx="11057839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66928" y="429768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보상(reward) rₜ₊₁ — 에이전트가 최대화하는 단 하나의 신호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566928" y="4709160"/>
            <a:ext cx="1105783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보상은 설계 목표(질량 ↓, 공진 회피, 응답 피크 ↓)를 </a:t>
            </a:r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인코딩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하며, 그 가중치가 어떤 목표가 우선되는지를 결정한다 — 바로 다음 장에서 다루는 문제.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3504" y="786384"/>
            <a:ext cx="530352" cy="0"/>
          </a:xfrm>
          <a:prstGeom prst="line">
            <a:avLst/>
          </a:prstGeom>
          <a:noFill/>
          <a:ln w="31750">
            <a:solidFill>
              <a:srgbClr val="0B2F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81328" y="23774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Background — 문제 정의</a:t>
            </a:r>
            <a:endParaRPr lang="en-US" sz="2300" dirty="0"/>
          </a:p>
        </p:txBody>
      </p:sp>
      <p:pic>
        <p:nvPicPr>
          <p:cNvPr id="5" name="Image 0" descr="figs/lab_assets/ksn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1219" y="274320"/>
            <a:ext cx="1053548" cy="457200"/>
          </a:xfrm>
          <a:prstGeom prst="rect">
            <a:avLst/>
          </a:prstGeom>
        </p:spPr>
      </p:pic>
      <p:pic>
        <p:nvPicPr>
          <p:cNvPr id="6" name="Image 1" descr="figs/lab_assets/lam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0399" y="274320"/>
            <a:ext cx="916229" cy="457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66928" y="969264"/>
            <a:ext cx="11057839" cy="0"/>
          </a:xfrm>
          <a:prstGeom prst="line">
            <a:avLst/>
          </a:prstGeom>
          <a:noFill/>
          <a:ln w="15875">
            <a:solidFill>
              <a:srgbClr val="D6D6D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893247" y="645566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66928" y="11430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왜 이 가중치인가? 수작업에서 데이터 기반으로 ]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566928" y="1783080"/>
            <a:ext cx="11057839" cy="868680"/>
          </a:xfrm>
          <a:prstGeom prst="rect">
            <a:avLst/>
          </a:prstGeom>
          <a:solidFill>
            <a:srgbClr val="F2F4F8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66928" y="1783080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Reward = </a:t>
            </a:r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X₁</a:t>
            </a:r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·ΔMass + </a:t>
            </a:r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X₂</a:t>
            </a:r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·ΔResonance + </a:t>
            </a:r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X₃</a:t>
            </a:r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·ΔPitch_peak + </a:t>
            </a:r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X₄</a:t>
            </a:r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·ΔHeave_peak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566928" y="27432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가중치 X₁…X₄ 는 현재 RL 하부구조물 설계 최적화에서 수작업으로 설정된다 (비용·출력·제약 우선순위) — 데이터에 근거하지 않음.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916168" y="3383280"/>
            <a:ext cx="0" cy="246888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66928" y="338328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GAP — 무엇이 빠졌나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66928" y="3767328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가중치는 변수 중요도를 </a:t>
            </a:r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수작업으로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매긴다. 어떤 응답이 가장 중요한지, 각 응답이 환경에 의해 얼마나 강하게 구동되는지에 대한 객관적 근거가 없다.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6236208" y="3383280"/>
            <a:ext cx="53885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기반 근거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236208" y="3767328"/>
            <a:ext cx="5388559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pPr indent="0" marL="0">
              <a:lnSpc>
                <a:spcPct val="132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전달 엔트로피(TE)</a:t>
            </a:r>
            <a:pPr indent="0" marL="0">
              <a:lnSpc>
                <a:spcPct val="132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어떤 환경 구동원이 각 응답을 인과적으로 구동하는가</a:t>
            </a:r>
            <a:endParaRPr lang="en-US" sz="1350" dirty="0"/>
          </a:p>
          <a:p>
            <a:pPr indent="0" marL="0">
              <a:lnSpc>
                <a:spcPct val="132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pPr indent="0" marL="0">
              <a:lnSpc>
                <a:spcPct val="132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Sobol 민감도</a:t>
            </a:r>
            <a:pPr indent="0" marL="0">
              <a:lnSpc>
                <a:spcPct val="132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어떤 설계 변수가 각 응답을 움직이는가</a:t>
            </a:r>
            <a:endParaRPr lang="en-US" sz="1350" dirty="0"/>
          </a:p>
          <a:p>
            <a:pPr indent="0" marL="0">
              <a:lnSpc>
                <a:spcPct val="132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pPr indent="0" marL="0">
              <a:lnSpc>
                <a:spcPct val="132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가지를 결합</a:t>
            </a:r>
            <a:pPr indent="0" marL="0">
              <a:lnSpc>
                <a:spcPct val="132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가중치의 데이터 기반 근거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3504" y="786384"/>
            <a:ext cx="530352" cy="0"/>
          </a:xfrm>
          <a:prstGeom prst="line">
            <a:avLst/>
          </a:prstGeom>
          <a:noFill/>
          <a:ln w="31750">
            <a:solidFill>
              <a:srgbClr val="0B2F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81328" y="23774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Background — 연관에서 인과로</a:t>
            </a:r>
            <a:endParaRPr lang="en-US" sz="2300" dirty="0"/>
          </a:p>
        </p:txBody>
      </p:sp>
      <p:pic>
        <p:nvPicPr>
          <p:cNvPr id="5" name="Image 0" descr="figs/lab_assets/ksn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1219" y="274320"/>
            <a:ext cx="1053548" cy="457200"/>
          </a:xfrm>
          <a:prstGeom prst="rect">
            <a:avLst/>
          </a:prstGeom>
        </p:spPr>
      </p:pic>
      <p:pic>
        <p:nvPicPr>
          <p:cNvPr id="6" name="Image 1" descr="figs/lab_assets/lam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0399" y="274320"/>
            <a:ext cx="916229" cy="457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66928" y="969264"/>
            <a:ext cx="11057839" cy="0"/>
          </a:xfrm>
          <a:prstGeom prst="line">
            <a:avLst/>
          </a:prstGeom>
          <a:noFill/>
          <a:ln w="15875">
            <a:solidFill>
              <a:srgbClr val="D6D6D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893247" y="645566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66928" y="11430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From association to directed causation ]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5916168" y="1874520"/>
            <a:ext cx="0" cy="233172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66928" y="187452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상관 / 코히어런스 (Correlation)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66928" y="228600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대칭적·무방향 — 연관성만 정량화. γ²(f) 는 바람과 하중이 한 주파수에서 파워를 공유함을 알려줄 뿐, 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구동하는지는 말하지 못한다.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236208" y="1874520"/>
            <a:ext cx="53885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전달 엔트로피 (Transfer Entropy)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236208" y="2286000"/>
            <a:ext cx="538855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방향성·비선형·모델 무가정. 소스의 과거가 타깃의 미래에 대해 추가로 주는 정보를 측정한다 — 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타깃 자신의 과거를 넘어서.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66928" y="4434840"/>
            <a:ext cx="11057839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66928" y="457200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QUESTION — 핵심 질문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566928" y="498348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환경 구동원(바람 또는 파랑)이 각 구조 응답을 인과적으로 구동하며, 선형 기법이 놓치는 연성 경로는 무엇인가?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3504" y="786384"/>
            <a:ext cx="530352" cy="0"/>
          </a:xfrm>
          <a:prstGeom prst="line">
            <a:avLst/>
          </a:prstGeom>
          <a:noFill/>
          <a:ln w="31750">
            <a:solidFill>
              <a:srgbClr val="0B2F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81328" y="23774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Background — 상관 ≠ 인과</a:t>
            </a:r>
            <a:endParaRPr lang="en-US" sz="2300" dirty="0"/>
          </a:p>
        </p:txBody>
      </p:sp>
      <p:pic>
        <p:nvPicPr>
          <p:cNvPr id="5" name="Image 0" descr="figs/lab_assets/ksn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1219" y="274320"/>
            <a:ext cx="1053548" cy="457200"/>
          </a:xfrm>
          <a:prstGeom prst="rect">
            <a:avLst/>
          </a:prstGeom>
        </p:spPr>
      </p:pic>
      <p:pic>
        <p:nvPicPr>
          <p:cNvPr id="6" name="Image 1" descr="figs/lab_assets/lam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0399" y="274320"/>
            <a:ext cx="916229" cy="457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66928" y="969264"/>
            <a:ext cx="11057839" cy="0"/>
          </a:xfrm>
          <a:prstGeom prst="line">
            <a:avLst/>
          </a:prstGeom>
          <a:noFill/>
          <a:ln w="15875">
            <a:solidFill>
              <a:srgbClr val="D6D6D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893247" y="645566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66928" y="11430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Correlation is not causation ]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5916168" y="1874520"/>
            <a:ext cx="0" cy="233172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66928" y="187452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함정 (The trap)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66928" y="228600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아이스크림 판매와 익사 사고는 함께 증가한다 — 둘 다 여름 더위가 원인. 강한 상관, 인과는 0. corr(A,B)=corr(B,A) 에는 방향(화살표)이 없다.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236208" y="1874520"/>
            <a:ext cx="53885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방향이 요구하는 것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236208" y="2286000"/>
            <a:ext cx="538855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진짜 원인은 결과보다 시간적으로 앞서야 하고, 타깃 자신의 이력과 공통 구동원을 고려한 뒤에도 그 연결이 살아남아야 한다.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66928" y="4434840"/>
            <a:ext cx="11057839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66928" y="457200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연성 시스템에서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566928" y="498348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난류나 부유식 풍력터빈에서는 수십 개 채널이 함께 움직인다. 무엇이 무엇을 구동하는지 눈으로 가늠하기란 불가능 — 방향성·모델 무가정 척도가 필요하다.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3504" y="786384"/>
            <a:ext cx="530352" cy="0"/>
          </a:xfrm>
          <a:prstGeom prst="line">
            <a:avLst/>
          </a:prstGeom>
          <a:noFill/>
          <a:ln w="31750">
            <a:solidFill>
              <a:srgbClr val="0B2F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81328" y="23774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Transfer Entropy — 정보이론 기초</a:t>
            </a:r>
            <a:endParaRPr lang="en-US" sz="2300" dirty="0"/>
          </a:p>
        </p:txBody>
      </p:sp>
      <p:pic>
        <p:nvPicPr>
          <p:cNvPr id="5" name="Image 0" descr="figs/lab_assets/ksn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1219" y="274320"/>
            <a:ext cx="1053548" cy="457200"/>
          </a:xfrm>
          <a:prstGeom prst="rect">
            <a:avLst/>
          </a:prstGeom>
        </p:spPr>
      </p:pic>
      <p:pic>
        <p:nvPicPr>
          <p:cNvPr id="6" name="Image 1" descr="figs/lab_assets/lam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0399" y="274320"/>
            <a:ext cx="916229" cy="457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66928" y="969264"/>
            <a:ext cx="11057839" cy="0"/>
          </a:xfrm>
          <a:prstGeom prst="line">
            <a:avLst/>
          </a:prstGeom>
          <a:noFill/>
          <a:ln w="15875">
            <a:solidFill>
              <a:srgbClr val="D6D6D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893247" y="645566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66928" y="11430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Entropy and information ]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5916168" y="1874520"/>
            <a:ext cx="0" cy="233172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66928" y="187452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섀넌 엔트로피 (Shannon entropy)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66928" y="22585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H(X) = −Σ p(x) log p(x)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66928" y="269748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신호에 담긴 평균 불확실성(‘놀라움’). 결과가 확실하면 0, 모든 결과가 동등하면 최대.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236208" y="1874520"/>
            <a:ext cx="53885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상호정보량 (Mutual information)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236208" y="2258568"/>
            <a:ext cx="5388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I(X;Y) = H(X) + H(Y) − H(X,Y)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236208" y="2697480"/>
            <a:ext cx="538855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 와 Y 가 공유하는 정보 — 하나를 알면 다른 하나의 불확실성이 얼마나 줄어드는가.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566928" y="4434840"/>
            <a:ext cx="11057839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66928" y="457200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CATCH — 한계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566928" y="498348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상호정보량은 대칭이다: I(X;Y)=I(Y;X). 어느 변수가 어느 쪽을 구동하는지 말할 수 없다 — 바로 전달 엔트로피가 메우는 간극.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3504" y="786384"/>
            <a:ext cx="530352" cy="0"/>
          </a:xfrm>
          <a:prstGeom prst="line">
            <a:avLst/>
          </a:prstGeom>
          <a:noFill/>
          <a:ln w="31750">
            <a:solidFill>
              <a:srgbClr val="0B2F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81328" y="23774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Transfer Entropy — 정의</a:t>
            </a:r>
            <a:endParaRPr lang="en-US" sz="2300" dirty="0"/>
          </a:p>
        </p:txBody>
      </p:sp>
      <p:pic>
        <p:nvPicPr>
          <p:cNvPr id="5" name="Image 0" descr="figs/lab_assets/ksn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1219" y="274320"/>
            <a:ext cx="1053548" cy="457200"/>
          </a:xfrm>
          <a:prstGeom prst="rect">
            <a:avLst/>
          </a:prstGeom>
        </p:spPr>
      </p:pic>
      <p:pic>
        <p:nvPicPr>
          <p:cNvPr id="6" name="Image 1" descr="figs/lab_assets/lam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0399" y="274320"/>
            <a:ext cx="916229" cy="457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66928" y="969264"/>
            <a:ext cx="11057839" cy="0"/>
          </a:xfrm>
          <a:prstGeom prst="line">
            <a:avLst/>
          </a:prstGeom>
          <a:noFill/>
          <a:ln w="15875">
            <a:solidFill>
              <a:srgbClr val="D6D6D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893247" y="645566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66928" y="11430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Transfer entropy, defined ]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566928" y="1783080"/>
            <a:ext cx="11057839" cy="731520"/>
          </a:xfrm>
          <a:prstGeom prst="rect">
            <a:avLst/>
          </a:prstGeom>
          <a:solidFill>
            <a:srgbClr val="F2F4F8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66928" y="178308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4E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TE(X→Y) = H(Y_f | Y_p) − H(Y_f | Y_p, X_p)</a:t>
            </a:r>
            <a:endParaRPr lang="en-US" sz="1900" dirty="0"/>
          </a:p>
        </p:txBody>
      </p:sp>
      <p:sp>
        <p:nvSpPr>
          <p:cNvPr id="12" name="Shape 8"/>
          <p:cNvSpPr/>
          <p:nvPr/>
        </p:nvSpPr>
        <p:spPr>
          <a:xfrm>
            <a:off x="5916168" y="2743200"/>
            <a:ext cx="0" cy="155448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66928" y="274320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66928" y="3127248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Y_f = 타깃의 미래 · Y_p = 타깃의 과거 · X_p = 소스의 과거. 소스의 과거가 타깃 자신의 이력을 넘어 다음 스텝 예측을 얼마나 날카롭게 하는가.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6236208" y="2743200"/>
            <a:ext cx="53885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조건부의 묘수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236208" y="3127248"/>
            <a:ext cx="538855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 자신의 과거로 조건화하면 자기예측·공유 이력이 제거되고, X 에서 온 ‘진짜 새 정보’만 남는다. 그래서 방향성을 갖는다: TE(X→Y) ≠ TE(Y→X).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566928" y="4663440"/>
            <a:ext cx="11057839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66928" y="480060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성질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566928" y="516636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 ≥ 0 이며 TE = 0 이면 전달 없음. 설계상 비대칭이며, 선형-가우시안 신호에서는 Granger 인과성과 정확히 일치(Barnett et al. 2009). 정의: Schreiber (2000).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3504" y="786384"/>
            <a:ext cx="530352" cy="0"/>
          </a:xfrm>
          <a:prstGeom prst="line">
            <a:avLst/>
          </a:prstGeom>
          <a:noFill/>
          <a:ln w="31750">
            <a:solidFill>
              <a:srgbClr val="0B2F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81328" y="23774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Transfer Entropy — 추정</a:t>
            </a:r>
            <a:endParaRPr lang="en-US" sz="2300" dirty="0"/>
          </a:p>
        </p:txBody>
      </p:sp>
      <p:pic>
        <p:nvPicPr>
          <p:cNvPr id="5" name="Image 0" descr="figs/lab_assets/ksn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1219" y="274320"/>
            <a:ext cx="1053548" cy="457200"/>
          </a:xfrm>
          <a:prstGeom prst="rect">
            <a:avLst/>
          </a:prstGeom>
        </p:spPr>
      </p:pic>
      <p:pic>
        <p:nvPicPr>
          <p:cNvPr id="6" name="Image 1" descr="figs/lab_assets/lam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0399" y="274320"/>
            <a:ext cx="916229" cy="457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66928" y="969264"/>
            <a:ext cx="11057839" cy="0"/>
          </a:xfrm>
          <a:prstGeom prst="line">
            <a:avLst/>
          </a:prstGeom>
          <a:noFill/>
          <a:ln w="15875">
            <a:solidFill>
              <a:srgbClr val="D6D6D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893247" y="645566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66928" y="11430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Estimating TE without binning ]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5916168" y="1874520"/>
            <a:ext cx="0" cy="233172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66928" y="187452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구간 나눔 대신 최근접 이웃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66928" y="228600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 는 조건부 상호정보량이다. Kraskov–Stögbauer–Grassberger(KSG) 추정기는 결합 공간에서 k 개 최근접 이웃(k=4)을 센다 — 히스토그램도, 고를 구간 수도 없다.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236208" y="1874520"/>
            <a:ext cx="53885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데이터에 적합한 이유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236208" y="2286000"/>
            <a:ext cx="538855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연속 신호에 적응적 해상도; 가우시안 기법이 놓치는 비선형 의존을 포착. 비트가 아닌 나츠(nats, 자연로그) 단위로 보고 — 같은 양. Kraskov et al. (2004).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66928" y="4434840"/>
            <a:ext cx="11057839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66928" y="457200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파이프라인에서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566928" y="498348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KSG(k=4) + 비균일 임베딩(max_lag = 150 ≈ 1 슬로우드리프트 주기)을 IDTxl(Wollstadt et al. 2019)로 GPU 가속해 실행.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3504" y="786384"/>
            <a:ext cx="530352" cy="0"/>
          </a:xfrm>
          <a:prstGeom prst="line">
            <a:avLst/>
          </a:prstGeom>
          <a:noFill/>
          <a:ln w="31750">
            <a:solidFill>
              <a:srgbClr val="0B2F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81328" y="23774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Transfer Entropy — 임베딩</a:t>
            </a:r>
            <a:endParaRPr lang="en-US" sz="2300" dirty="0"/>
          </a:p>
        </p:txBody>
      </p:sp>
      <p:pic>
        <p:nvPicPr>
          <p:cNvPr id="5" name="Image 0" descr="figs/lab_assets/ksn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1219" y="274320"/>
            <a:ext cx="1053548" cy="457200"/>
          </a:xfrm>
          <a:prstGeom prst="rect">
            <a:avLst/>
          </a:prstGeom>
        </p:spPr>
      </p:pic>
      <p:pic>
        <p:nvPicPr>
          <p:cNvPr id="6" name="Image 1" descr="figs/lab_assets/lam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0399" y="274320"/>
            <a:ext cx="916229" cy="457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66928" y="969264"/>
            <a:ext cx="11057839" cy="0"/>
          </a:xfrm>
          <a:prstGeom prst="line">
            <a:avLst/>
          </a:prstGeom>
          <a:noFill/>
          <a:ln w="15875">
            <a:solidFill>
              <a:srgbClr val="D6D6D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893247" y="645566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66928" y="11430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Time delay τ and the embedding window ]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5916168" y="1874520"/>
            <a:ext cx="0" cy="233172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66928" y="187452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지연 벡터 (delay vectors)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66928" y="228600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 는 최근 과거를 지연 벡터로 표현: Y_past = [y(t−τ), y(t−2τ), …, y(t−max_lag)]. τ 는 시차 간격을, max_lag 는 얼마나 멀리 보는지를 정한다.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236208" y="1874520"/>
            <a:ext cx="53885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설정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236208" y="2286000"/>
            <a:ext cx="538855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max_lag = 150 샘플 ≈ 5 Hz 에서 30 초 — 플랫폼 슬로우드리프트 한 주기. τ=1 은 모든 시차 유지 후 그리디 탐색; τ=5 는 ~150 후보를 ~30 으로 솎는다.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66928" y="4434840"/>
            <a:ext cx="11057839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66928" y="457200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다 중요한 이유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566928" y="498348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창이 너무 짧으면 슬로우드리프트를 놓치고, 시차 격자가 너무 촘촘하면 그리디 탐색이 폭발한다. τ 와 max_lag 가 인과 검정이 볼 수 있는 시차를 함께 결정한다.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3504" y="786384"/>
            <a:ext cx="530352" cy="0"/>
          </a:xfrm>
          <a:prstGeom prst="line">
            <a:avLst/>
          </a:prstGeom>
          <a:noFill/>
          <a:ln w="31750">
            <a:solidFill>
              <a:srgbClr val="0B2F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81328" y="23774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Transfer Entropy — τ</a:t>
            </a:r>
            <a:endParaRPr lang="en-US" sz="2300" dirty="0"/>
          </a:p>
        </p:txBody>
      </p:sp>
      <p:pic>
        <p:nvPicPr>
          <p:cNvPr id="5" name="Image 0" descr="figs/lab_assets/ksn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1219" y="274320"/>
            <a:ext cx="1053548" cy="457200"/>
          </a:xfrm>
          <a:prstGeom prst="rect">
            <a:avLst/>
          </a:prstGeom>
        </p:spPr>
      </p:pic>
      <p:pic>
        <p:nvPicPr>
          <p:cNvPr id="6" name="Image 1" descr="figs/lab_assets/lam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0399" y="274320"/>
            <a:ext cx="916229" cy="457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66928" y="969264"/>
            <a:ext cx="11057839" cy="0"/>
          </a:xfrm>
          <a:prstGeom prst="line">
            <a:avLst/>
          </a:prstGeom>
          <a:noFill/>
          <a:ln w="15875">
            <a:solidFill>
              <a:srgbClr val="D6D6D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893247" y="645566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66928" y="11430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τ is not a free knob ]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5916168" y="1874520"/>
            <a:ext cx="0" cy="233172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66928" y="187452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솔깃한 지름길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66928" y="228600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흔한 휴리스틱은 자기-상호정보량의 첫 최소(AIS 최적 지연)에서 τ 를 정한다. 자기예측가능성(AIS)은 잘 보존한다.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236208" y="1874520"/>
            <a:ext cx="53885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…그러나 TE 를 깨뜨린다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236208" y="2286000"/>
            <a:ext cx="538855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하지만 self-MI τ=10 은 지배적 Wave→PtfmPitch 엣지를 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 으로 만들었다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방향성 연성은 특정 시차에 살아 있어 자기예측 휴리스틱이 놓친다 — AIS 에 최적이 TE 에 최적은 아니다.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66928" y="4434840"/>
            <a:ext cx="11057839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66928" y="457200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τ 의 두 역할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566928" y="498348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τ 는 모델링 선택(검정이 보는 시차)이자 계산 레버 — 슬로우드리프트 플랫폼 채널은 τ=5 에서만 끝난다. τ&gt;1 은 모두 τ=1 기준선과 검증한다.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3504" y="786384"/>
            <a:ext cx="530352" cy="0"/>
          </a:xfrm>
          <a:prstGeom prst="line">
            <a:avLst/>
          </a:prstGeom>
          <a:noFill/>
          <a:ln w="31750">
            <a:solidFill>
              <a:srgbClr val="0B2F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81328" y="23774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Transfer Entropy — 유의성</a:t>
            </a:r>
            <a:endParaRPr lang="en-US" sz="2300" dirty="0"/>
          </a:p>
        </p:txBody>
      </p:sp>
      <p:pic>
        <p:nvPicPr>
          <p:cNvPr id="5" name="Image 0" descr="figs/lab_assets/ksn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1219" y="274320"/>
            <a:ext cx="1053548" cy="457200"/>
          </a:xfrm>
          <a:prstGeom prst="rect">
            <a:avLst/>
          </a:prstGeom>
        </p:spPr>
      </p:pic>
      <p:pic>
        <p:nvPicPr>
          <p:cNvPr id="6" name="Image 1" descr="figs/lab_assets/lam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0399" y="274320"/>
            <a:ext cx="916229" cy="457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66928" y="969264"/>
            <a:ext cx="11057839" cy="0"/>
          </a:xfrm>
          <a:prstGeom prst="line">
            <a:avLst/>
          </a:prstGeom>
          <a:noFill/>
          <a:ln w="15875">
            <a:solidFill>
              <a:srgbClr val="D6D6D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893247" y="645566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66928" y="11430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Is the transfer real? Surrogate testing ]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5916168" y="1874520"/>
            <a:ext cx="0" cy="233172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66928" y="187452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귀무가설 (null hypothesis)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66928" y="228600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KSG TE 는 정확히 0 이 되지 않는다 — 유한표본 잡음이 작은 양수를 남긴다. 그래서 묻는다: 연성이 없다면 우연보다 큰가?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236208" y="1874520"/>
            <a:ext cx="53885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순환 이동 대리표본 (circular-shift)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236208" y="2286000"/>
            <a:ext cx="538855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소스를 시간축으로 회전(n=200)해 타깃과의 타이밍은 깨고 스펙트럼은 유지. p = 실제 TE 를 이긴 대리표본 비율; p&lt;0.05 엣지만 유지.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66928" y="4434840"/>
            <a:ext cx="11057839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66928" y="457200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순환 이동인가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566928" y="498348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순환 이동은 소스의 스펙트럼·진폭을 그대로 두고 X→Y 타이밍만 제거한다 — 거짓 양성을 피하는 엄격하고 정직한 귀무.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3504" y="786384"/>
            <a:ext cx="530352" cy="0"/>
          </a:xfrm>
          <a:prstGeom prst="line">
            <a:avLst/>
          </a:prstGeom>
          <a:noFill/>
          <a:ln w="31750">
            <a:solidFill>
              <a:srgbClr val="0B2F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81328" y="23774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Transfer Entropy — 직관</a:t>
            </a:r>
            <a:endParaRPr lang="en-US" sz="2300" dirty="0"/>
          </a:p>
        </p:txBody>
      </p:sp>
      <p:pic>
        <p:nvPicPr>
          <p:cNvPr id="5" name="Image 0" descr="figs/lab_assets/ksn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1219" y="274320"/>
            <a:ext cx="1053548" cy="457200"/>
          </a:xfrm>
          <a:prstGeom prst="rect">
            <a:avLst/>
          </a:prstGeom>
        </p:spPr>
      </p:pic>
      <p:pic>
        <p:nvPicPr>
          <p:cNvPr id="6" name="Image 1" descr="figs/lab_assets/lam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0399" y="274320"/>
            <a:ext cx="916229" cy="457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66928" y="969264"/>
            <a:ext cx="11057839" cy="0"/>
          </a:xfrm>
          <a:prstGeom prst="line">
            <a:avLst/>
          </a:prstGeom>
          <a:noFill/>
          <a:ln w="15875">
            <a:solidFill>
              <a:srgbClr val="D6D6D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893247" y="645566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66928" y="11430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A toy example: who drives whom? ]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5916168" y="1874520"/>
            <a:ext cx="0" cy="233172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66928" y="187452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(Setup)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66928" y="225856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F4E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X[i] = 0.5·X[i−1] + noise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F4E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Y[i] = 0.5·X[i−1] + noise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66928" y="30175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 는 자율, Y 는 X 의 과거에 반응. 눈으로는 둘 다 무작위 잡음처럼 보인다.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236208" y="1874520"/>
            <a:ext cx="53885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 가 복원하는 것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236208" y="2258568"/>
            <a:ext cx="5388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TE(X→Y) ≫ TE(Y→X)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236208" y="2743200"/>
            <a:ext cx="538855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비대칭이 X 를 구동원으로 정확히 지목한다 — 대칭인 상관으로는 결코 드러낼 수 없는 것.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566928" y="4434840"/>
            <a:ext cx="11057839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66928" y="457200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교훈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566928" y="498348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방향은 원신호가 아니라 조건화에서 나온다 — 바람·파랑·구조 채널에 대해 우리가 실행하는 바로 그 검정.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3504" y="786384"/>
            <a:ext cx="530352" cy="0"/>
          </a:xfrm>
          <a:prstGeom prst="line">
            <a:avLst/>
          </a:prstGeom>
          <a:noFill/>
          <a:ln w="31750">
            <a:solidFill>
              <a:srgbClr val="0B2F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81328" y="23774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Transfer Entropy — 비교</a:t>
            </a:r>
            <a:endParaRPr lang="en-US" sz="2300" dirty="0"/>
          </a:p>
        </p:txBody>
      </p:sp>
      <p:pic>
        <p:nvPicPr>
          <p:cNvPr id="5" name="Image 0" descr="figs/lab_assets/ksn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1219" y="274320"/>
            <a:ext cx="1053548" cy="457200"/>
          </a:xfrm>
          <a:prstGeom prst="rect">
            <a:avLst/>
          </a:prstGeom>
        </p:spPr>
      </p:pic>
      <p:pic>
        <p:nvPicPr>
          <p:cNvPr id="6" name="Image 1" descr="figs/lab_assets/lam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0399" y="274320"/>
            <a:ext cx="916229" cy="457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66928" y="969264"/>
            <a:ext cx="11057839" cy="0"/>
          </a:xfrm>
          <a:prstGeom prst="line">
            <a:avLst/>
          </a:prstGeom>
          <a:noFill/>
          <a:ln w="15875">
            <a:solidFill>
              <a:srgbClr val="D6D6D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893247" y="645566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66928" y="11430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Three ways to measure dependence ]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566928" y="1874520"/>
            <a:ext cx="33811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상관 (Correlation)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66928" y="2258568"/>
            <a:ext cx="338114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선형 연관의 세기. corr(X,Y)=corr(Y,X) — 대칭.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566928" y="3749040"/>
            <a:ext cx="33811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 ✗   비선형 ✗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176674" y="1874520"/>
            <a:ext cx="0" cy="210312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405274" y="1874520"/>
            <a:ext cx="33811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Granger 인과성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405274" y="2258568"/>
            <a:ext cx="338114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 의 과거가 Y 의 선형 예측을 개선하는가? 방향성 있으나 선형(VAR) 가정. Granger 1969 · Nobel 2003.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405274" y="3749040"/>
            <a:ext cx="33811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 ✓   비선형 ✗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015021" y="1874520"/>
            <a:ext cx="0" cy="210312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243621" y="1874520"/>
            <a:ext cx="33811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전달 엔트로피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8243621" y="2258568"/>
            <a:ext cx="338114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 의 과거가 Y 의 미래 불확실성을 줄이는가? 모델 무가정. Schreiber 2000.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8243621" y="3749040"/>
            <a:ext cx="33811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 ✓   비선형 ✓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66928" y="4297680"/>
            <a:ext cx="11057839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66928" y="443484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566928" y="4846320"/>
            <a:ext cx="1105783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전달 엔트로피만이 방향성과 비선형을 동시에 갖는다. 선형-가우시안 과정에서는 Granger 와 정확히 일치(Barnett et al. 2009) — 동역학이 비선형·비가우시안일 때 제 값을 한다.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3504" y="786384"/>
            <a:ext cx="530352" cy="0"/>
          </a:xfrm>
          <a:prstGeom prst="line">
            <a:avLst/>
          </a:prstGeom>
          <a:noFill/>
          <a:ln w="31750">
            <a:solidFill>
              <a:srgbClr val="0B2F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81328" y="23774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Transfer Entropy — vs Granger</a:t>
            </a:r>
            <a:endParaRPr lang="en-US" sz="2300" dirty="0"/>
          </a:p>
        </p:txBody>
      </p:sp>
      <p:pic>
        <p:nvPicPr>
          <p:cNvPr id="5" name="Image 0" descr="figs/lab_assets/ksn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1219" y="274320"/>
            <a:ext cx="1053548" cy="457200"/>
          </a:xfrm>
          <a:prstGeom prst="rect">
            <a:avLst/>
          </a:prstGeom>
        </p:spPr>
      </p:pic>
      <p:pic>
        <p:nvPicPr>
          <p:cNvPr id="6" name="Image 1" descr="figs/lab_assets/lam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0399" y="274320"/>
            <a:ext cx="916229" cy="457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66928" y="969264"/>
            <a:ext cx="11057839" cy="0"/>
          </a:xfrm>
          <a:prstGeom prst="line">
            <a:avLst/>
          </a:prstGeom>
          <a:noFill/>
          <a:ln w="15875">
            <a:solidFill>
              <a:srgbClr val="D6D6D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893247" y="645566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66928" y="11430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Transfer entropy and Granger causality ]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5916168" y="1874520"/>
            <a:ext cx="0" cy="219456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66928" y="187452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Granger 인과성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66928" y="228600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선형 자기회귀(VAR) 모델. 빠르고 잘 이해되어 있으나 선형·가우시안을 가정 — 비선형 연성을 놓친다.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236208" y="1874520"/>
            <a:ext cx="53885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전달 엔트로피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236208" y="2286000"/>
            <a:ext cx="5388559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무가정, 분포 가정 없음, 모든 비선형성 포착. 더 비싸고(k-NN 추정) 데이터를 더 요구.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66928" y="4297680"/>
            <a:ext cx="11057839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66928" y="443484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둘이 일치할 때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566928" y="4846320"/>
            <a:ext cx="1105783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선형-가우시안 과정에서 둘은 정확히 동등(Barnett et al. 2009). TE 는 동역학이 비선형·비가우시안일 때만 제 값을 한다 — 그래서 둘 다 실행한다.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3504" y="786384"/>
            <a:ext cx="530352" cy="0"/>
          </a:xfrm>
          <a:prstGeom prst="line">
            <a:avLst/>
          </a:prstGeom>
          <a:noFill/>
          <a:ln w="31750">
            <a:solidFill>
              <a:srgbClr val="0B2F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81328" y="23774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Transfer Entropy — 적용 영역</a:t>
            </a:r>
            <a:endParaRPr lang="en-US" sz="2300" dirty="0"/>
          </a:p>
        </p:txBody>
      </p:sp>
      <p:pic>
        <p:nvPicPr>
          <p:cNvPr id="5" name="Image 0" descr="figs/lab_assets/ksn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1219" y="274320"/>
            <a:ext cx="1053548" cy="457200"/>
          </a:xfrm>
          <a:prstGeom prst="rect">
            <a:avLst/>
          </a:prstGeom>
        </p:spPr>
      </p:pic>
      <p:pic>
        <p:nvPicPr>
          <p:cNvPr id="6" name="Image 1" descr="figs/lab_assets/lam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0399" y="274320"/>
            <a:ext cx="916229" cy="457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66928" y="969264"/>
            <a:ext cx="11057839" cy="0"/>
          </a:xfrm>
          <a:prstGeom prst="line">
            <a:avLst/>
          </a:prstGeom>
          <a:noFill/>
          <a:ln w="15875">
            <a:solidFill>
              <a:srgbClr val="D6D6D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893247" y="645566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66928" y="11430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When does transfer entropy pay off? ]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566928" y="1874520"/>
            <a:ext cx="33811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선형 / 가우시안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66928" y="2258568"/>
            <a:ext cx="338114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 = Granger 와 정확히 동일(Barnett 2009). 추가 가치 없음 — 더 단순한 방법 사용.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176674" y="1874520"/>
            <a:ext cx="0" cy="182880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405274" y="1874520"/>
            <a:ext cx="33811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비선형 / 비가우시안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405274" y="2258568"/>
            <a:ext cx="338114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선형 기법이 볼 수 없는 방향 구조를 포착. 가장 빛나는 영역.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015021" y="1874520"/>
            <a:ext cx="0" cy="182880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243621" y="1874520"/>
            <a:ext cx="33811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초고차원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8243621" y="2258568"/>
            <a:ext cx="338114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결합 모드가 많으면 k-NN 추정이 저하 — 차원의 저주, 데이터 기근.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66928" y="4206240"/>
            <a:ext cx="11057839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66928" y="434340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566928" y="4754880"/>
            <a:ext cx="1105783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불규칙 파랑과 비선형 ROSCO 제어기를 가진 부유식 터빈은 정확히 중간 영역 — 비선형·비가우시안 — 에 놓이며, 전달 엔트로피가 가장 큰 가치를 더한다.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F6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155448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932688" y="3017520"/>
            <a:ext cx="1280160" cy="45720"/>
          </a:xfrm>
          <a:prstGeom prst="rect">
            <a:avLst/>
          </a:prstGeom>
          <a:solidFill>
            <a:srgbClr val="E6A23C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3200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Method &amp; Data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50976" y="4114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D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연성 wind–wave–structure–mooring 시스템과 시뮬레이션 캠페인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893247" y="645566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0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3504" y="786384"/>
            <a:ext cx="530352" cy="0"/>
          </a:xfrm>
          <a:prstGeom prst="line">
            <a:avLst/>
          </a:prstGeom>
          <a:noFill/>
          <a:ln w="31750">
            <a:solidFill>
              <a:srgbClr val="0B2F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81328" y="23774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Method &amp; Data — 시스템</a:t>
            </a:r>
            <a:endParaRPr lang="en-US" sz="2300" dirty="0"/>
          </a:p>
        </p:txBody>
      </p:sp>
      <p:pic>
        <p:nvPicPr>
          <p:cNvPr id="5" name="Image 0" descr="figs/lab_assets/ksn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1219" y="274320"/>
            <a:ext cx="1053548" cy="457200"/>
          </a:xfrm>
          <a:prstGeom prst="rect">
            <a:avLst/>
          </a:prstGeom>
        </p:spPr>
      </p:pic>
      <p:pic>
        <p:nvPicPr>
          <p:cNvPr id="6" name="Image 1" descr="figs/lab_assets/lam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0399" y="274320"/>
            <a:ext cx="916229" cy="457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66928" y="969264"/>
            <a:ext cx="11057839" cy="0"/>
          </a:xfrm>
          <a:prstGeom prst="line">
            <a:avLst/>
          </a:prstGeom>
          <a:noFill/>
          <a:ln w="15875">
            <a:solidFill>
              <a:srgbClr val="D6D6D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893247" y="645566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66928" y="11430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IEA-15MW FOWT, simulated in OpenFAST ]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566928" y="1783080"/>
            <a:ext cx="5303520" cy="3355938"/>
          </a:xfrm>
          <a:prstGeom prst="rect">
            <a:avLst/>
          </a:prstGeom>
          <a:solidFill>
            <a:srgbClr val="FFFFFF"/>
          </a:solidFill>
          <a:ln w="15875">
            <a:solidFill>
              <a:srgbClr val="D6D6D6"/>
            </a:solidFill>
            <a:prstDash val="solid"/>
          </a:ln>
        </p:spPr>
      </p:sp>
      <p:pic>
        <p:nvPicPr>
          <p:cNvPr id="11" name="Image 2" descr="figs/v2_assets/openfa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920240"/>
            <a:ext cx="5029200" cy="308161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66928" y="5248746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OpenFAST — 연성 aero-hydro-servo-elastic 모듈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6419088" y="1828800"/>
            <a:ext cx="52056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6419088" y="2157984"/>
            <a:ext cx="520567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IEA-15-240-RWT + UMaine VolturnUS-S 반잠수식; 연성 aero-hydro-servo-elastic OpenFAST 모델.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19088" y="3136392"/>
            <a:ext cx="5205679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419088" y="3246120"/>
            <a:ext cx="52056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신호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419088" y="3575304"/>
            <a:ext cx="520567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3600 s 시뮬레이션 · 600 s 과도 제거 · 5 Hz 로 데시메이션.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419088" y="4553712"/>
            <a:ext cx="5205679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419088" y="4663440"/>
            <a:ext cx="52056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채널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419088" y="4992624"/>
            <a:ext cx="520567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소스 2 (Wind1VelX, Wave1Elev) → 응답 9 (RootMyc1, RootMxc1, TwrBsMyt, PtfmHeave/Surge/Pitch, FAIRTEN1/2/3).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3504" y="786384"/>
            <a:ext cx="530352" cy="0"/>
          </a:xfrm>
          <a:prstGeom prst="line">
            <a:avLst/>
          </a:prstGeom>
          <a:noFill/>
          <a:ln w="31750">
            <a:solidFill>
              <a:srgbClr val="0B2F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81328" y="23774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Method &amp; Data — 설계하중조건</a:t>
            </a:r>
            <a:endParaRPr lang="en-US" sz="2300" dirty="0"/>
          </a:p>
        </p:txBody>
      </p:sp>
      <p:pic>
        <p:nvPicPr>
          <p:cNvPr id="5" name="Image 0" descr="figs/lab_assets/ksn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1219" y="274320"/>
            <a:ext cx="1053548" cy="457200"/>
          </a:xfrm>
          <a:prstGeom prst="rect">
            <a:avLst/>
          </a:prstGeom>
        </p:spPr>
      </p:pic>
      <p:pic>
        <p:nvPicPr>
          <p:cNvPr id="6" name="Image 1" descr="figs/lab_assets/lam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0399" y="274320"/>
            <a:ext cx="916229" cy="457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66928" y="969264"/>
            <a:ext cx="11057839" cy="0"/>
          </a:xfrm>
          <a:prstGeom prst="line">
            <a:avLst/>
          </a:prstGeom>
          <a:noFill/>
          <a:ln w="15875">
            <a:solidFill>
              <a:srgbClr val="D6D6D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893247" y="645566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66928" y="11430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The simulation campaign ]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2712568" y="1783080"/>
            <a:ext cx="7040880" cy="3927970"/>
          </a:xfrm>
          <a:prstGeom prst="rect">
            <a:avLst/>
          </a:prstGeom>
          <a:solidFill>
            <a:srgbClr val="FFFFFF"/>
          </a:solidFill>
          <a:ln w="15875">
            <a:solidFill>
              <a:srgbClr val="D6D6D6"/>
            </a:solidFill>
            <a:prstDash val="solid"/>
          </a:ln>
        </p:spPr>
      </p:sp>
      <p:pic>
        <p:nvPicPr>
          <p:cNvPr id="11" name="Image 2" descr="figs/v2_assets/dlc-matri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9728" y="1920240"/>
            <a:ext cx="6766560" cy="36536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712568" y="5820778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DLC-A / DLC-B / DLC-1.6, 운전점 스윕 (8/11/15/20 m/s, 6 시드) — 총 54 케이스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3504" y="786384"/>
            <a:ext cx="530352" cy="0"/>
          </a:xfrm>
          <a:prstGeom prst="line">
            <a:avLst/>
          </a:prstGeom>
          <a:noFill/>
          <a:ln w="31750">
            <a:solidFill>
              <a:srgbClr val="0B2F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81328" y="23774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Method &amp; Data — 환경 조건</a:t>
            </a:r>
            <a:endParaRPr lang="en-US" sz="2300" dirty="0"/>
          </a:p>
        </p:txBody>
      </p:sp>
      <p:pic>
        <p:nvPicPr>
          <p:cNvPr id="5" name="Image 0" descr="figs/lab_assets/ksn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1219" y="274320"/>
            <a:ext cx="1053548" cy="457200"/>
          </a:xfrm>
          <a:prstGeom prst="rect">
            <a:avLst/>
          </a:prstGeom>
        </p:spPr>
      </p:pic>
      <p:pic>
        <p:nvPicPr>
          <p:cNvPr id="6" name="Image 1" descr="figs/lab_assets/lam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0399" y="274320"/>
            <a:ext cx="916229" cy="457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66928" y="969264"/>
            <a:ext cx="11057839" cy="0"/>
          </a:xfrm>
          <a:prstGeom prst="line">
            <a:avLst/>
          </a:prstGeom>
          <a:noFill/>
          <a:ln w="15875">
            <a:solidFill>
              <a:srgbClr val="D6D6D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893247" y="645566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66928" y="11430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Wind and wave inputs ]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5916168" y="1874520"/>
            <a:ext cx="0" cy="219456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66928" y="187452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바람 — TurbSim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66928" y="228600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IEC Kaimal(IECKAI) 스펙트럼, 정규난류모델(NTM), class B, 멱법칙 전단, 허브높이 기준. URef = 8 / 11 / 15 / 20 m/s.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236208" y="1874520"/>
            <a:ext cx="53885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파랑 — JONSWAP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236208" y="2286000"/>
            <a:ext cx="538855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불규칙 JONSWAP 해상(SeaState). Hs/Tp 는 바람과 함께 변화: (3.5 m, 9 s) → (8.0 m, 13 s). DLC-1.6 극한해상: Hs = 8.3 m, Tp = 12.95 s.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66928" y="4297680"/>
            <a:ext cx="11057839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66928" y="443484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랜덤 시드에 관하여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566928" y="4846320"/>
            <a:ext cx="1105783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DLC-A/1.6 는 바람 시드를 파랑 생성에 재사용, DLC-B 는 독립 시드. OpenFAST 에서 바람(TurbSim)·파랑(HydroDyn)은 별도 생성되므로 시드는 재현성을 고정할 뿐 wind–wave 상관을 만들지 않는다.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3504" y="786384"/>
            <a:ext cx="530352" cy="0"/>
          </a:xfrm>
          <a:prstGeom prst="line">
            <a:avLst/>
          </a:prstGeom>
          <a:noFill/>
          <a:ln w="31750">
            <a:solidFill>
              <a:srgbClr val="0B2F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81328" y="23774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Method &amp; Data — 전처리</a:t>
            </a:r>
            <a:endParaRPr lang="en-US" sz="2300" dirty="0"/>
          </a:p>
        </p:txBody>
      </p:sp>
      <p:pic>
        <p:nvPicPr>
          <p:cNvPr id="5" name="Image 0" descr="figs/lab_assets/ksn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1219" y="274320"/>
            <a:ext cx="1053548" cy="457200"/>
          </a:xfrm>
          <a:prstGeom prst="rect">
            <a:avLst/>
          </a:prstGeom>
        </p:spPr>
      </p:pic>
      <p:pic>
        <p:nvPicPr>
          <p:cNvPr id="6" name="Image 1" descr="figs/lab_assets/lam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0399" y="274320"/>
            <a:ext cx="916229" cy="457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66928" y="969264"/>
            <a:ext cx="11057839" cy="0"/>
          </a:xfrm>
          <a:prstGeom prst="line">
            <a:avLst/>
          </a:prstGeom>
          <a:noFill/>
          <a:ln w="15875">
            <a:solidFill>
              <a:srgbClr val="D6D6D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893247" y="645566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66928" y="11430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Why 5 Hz is enough ]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5916168" y="1874520"/>
            <a:ext cx="0" cy="228600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66928" y="187452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 · 플랫폼 (저주파)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66928" y="228600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슬로우드리프트 0.01–0.1 Hz · 파랑 1차 0.05–0.3 Hz(JONSWAP 피크 0.077) · 고유모드 pitch 0.0345 / heave 0.05 / surge 0.01 Hz · 바람 저주파 에디 0.01–1 Hz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236208" y="1874520"/>
            <a:ext cx="53885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로터 · 구조 (고주파)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236208" y="2286000"/>
            <a:ext cx="538855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1P / 3P 로터 ~0.15 / 0.45 Hz · 타워 전후 1차 모드 ~0.5 Hz · 블레이드 플랩 모드 ~0.6 Hz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66928" y="4389120"/>
            <a:ext cx="11057839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66928" y="452628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566928" y="4937760"/>
            <a:ext cx="110578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 Hz → 5 Hz 로 8× 다운샘플. Nyquist = 2.5 Hz 가 최고 대역(~0.6 Hz)보다 충분히 높아 모든 인과 신호를 보존하면서 KSG 스윕은 ~8× 감소.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3504" y="786384"/>
            <a:ext cx="530352" cy="0"/>
          </a:xfrm>
          <a:prstGeom prst="line">
            <a:avLst/>
          </a:prstGeom>
          <a:noFill/>
          <a:ln w="31750">
            <a:solidFill>
              <a:srgbClr val="0B2F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81328" y="23774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Method &amp; Data — 파이프라인</a:t>
            </a:r>
            <a:endParaRPr lang="en-US" sz="2300" dirty="0"/>
          </a:p>
        </p:txBody>
      </p:sp>
      <p:pic>
        <p:nvPicPr>
          <p:cNvPr id="5" name="Image 0" descr="figs/lab_assets/ksn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1219" y="274320"/>
            <a:ext cx="1053548" cy="457200"/>
          </a:xfrm>
          <a:prstGeom prst="rect">
            <a:avLst/>
          </a:prstGeom>
        </p:spPr>
      </p:pic>
      <p:pic>
        <p:nvPicPr>
          <p:cNvPr id="6" name="Image 1" descr="figs/lab_assets/lam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0399" y="274320"/>
            <a:ext cx="916229" cy="457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66928" y="969264"/>
            <a:ext cx="11057839" cy="0"/>
          </a:xfrm>
          <a:prstGeom prst="line">
            <a:avLst/>
          </a:prstGeom>
          <a:noFill/>
          <a:ln w="15875">
            <a:solidFill>
              <a:srgbClr val="D6D6D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893247" y="645566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66928" y="11430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Directed transfer, with linear baselines ]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566928" y="176479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1115568" y="178308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KSG 전달 엔트로피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115568" y="2112264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Kraskov 추정기(k=4), 비균일 임베딩, max_lag = 150 (30 s — 슬로우드리프트 1 주기).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66928" y="284378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1115568" y="286207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유의성 · 효과크기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115568" y="3191256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순환이동 대리표본 ×200, p&lt;0.05(max-stat). 정규화: te_frac = TE / (H(Y) − AIS(Y)).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66928" y="392277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3"/>
          <p:cNvSpPr/>
          <p:nvPr/>
        </p:nvSpPr>
        <p:spPr>
          <a:xfrm>
            <a:off x="1115568" y="394106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선형 기준선(동일 파이프라인)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115568" y="4270248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Gaussian / Granger(추정기 교체) + 크기제곱 코히어런스 γ²(f).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66928" y="500176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600" dirty="0"/>
          </a:p>
        </p:txBody>
      </p:sp>
      <p:sp>
        <p:nvSpPr>
          <p:cNvPr id="20" name="Text 16"/>
          <p:cNvSpPr/>
          <p:nvPr/>
        </p:nvSpPr>
        <p:spPr>
          <a:xfrm>
            <a:off x="1115568" y="502005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1115568" y="53492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2× A100 OpenCL; GPU vs CPU 검증(AIS RootMyc1 1.50 vs 1.49).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510528" y="2011680"/>
            <a:ext cx="4846320" cy="2873524"/>
          </a:xfrm>
          <a:prstGeom prst="rect">
            <a:avLst/>
          </a:prstGeom>
          <a:solidFill>
            <a:srgbClr val="FFFFFF"/>
          </a:solidFill>
          <a:ln w="15875">
            <a:solidFill>
              <a:srgbClr val="D6D6D6"/>
            </a:solidFill>
            <a:prstDash val="solid"/>
          </a:ln>
        </p:spPr>
      </p:sp>
      <p:pic>
        <p:nvPicPr>
          <p:cNvPr id="23" name="Image 2" descr="figs/v2_assets/pipel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688" y="2148840"/>
            <a:ext cx="4572000" cy="259920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510528" y="499493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TE pipeline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3504" y="786384"/>
            <a:ext cx="530352" cy="0"/>
          </a:xfrm>
          <a:prstGeom prst="line">
            <a:avLst/>
          </a:prstGeom>
          <a:noFill/>
          <a:ln w="31750">
            <a:solidFill>
              <a:srgbClr val="0B2F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81328" y="23774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Method &amp; Data — TE 의 의미</a:t>
            </a:r>
            <a:endParaRPr lang="en-US" sz="2300" dirty="0"/>
          </a:p>
        </p:txBody>
      </p:sp>
      <p:pic>
        <p:nvPicPr>
          <p:cNvPr id="5" name="Image 0" descr="figs/lab_assets/ksn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1219" y="274320"/>
            <a:ext cx="1053548" cy="457200"/>
          </a:xfrm>
          <a:prstGeom prst="rect">
            <a:avLst/>
          </a:prstGeom>
        </p:spPr>
      </p:pic>
      <p:pic>
        <p:nvPicPr>
          <p:cNvPr id="6" name="Image 1" descr="figs/lab_assets/lam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0399" y="274320"/>
            <a:ext cx="916229" cy="457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66928" y="969264"/>
            <a:ext cx="11057839" cy="0"/>
          </a:xfrm>
          <a:prstGeom prst="line">
            <a:avLst/>
          </a:prstGeom>
          <a:noFill/>
          <a:ln w="15875">
            <a:solidFill>
              <a:srgbClr val="D6D6D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893247" y="645566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66928" y="11430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What transfer entropy measures ]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3169768" y="1737360"/>
            <a:ext cx="6126480" cy="3138813"/>
          </a:xfrm>
          <a:prstGeom prst="rect">
            <a:avLst/>
          </a:prstGeom>
          <a:solidFill>
            <a:srgbClr val="FFFFFF"/>
          </a:solidFill>
          <a:ln w="15875">
            <a:solidFill>
              <a:srgbClr val="D6D6D6"/>
            </a:solidFill>
            <a:prstDash val="solid"/>
          </a:ln>
        </p:spPr>
      </p:sp>
      <p:pic>
        <p:nvPicPr>
          <p:cNvPr id="11" name="Image 2" descr="figs/v2_assets/concep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6928" y="1874520"/>
            <a:ext cx="5852160" cy="2864493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66928" y="4892040"/>
            <a:ext cx="11057839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566928" y="5074920"/>
            <a:ext cx="1105783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줄로 —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소스의 과거가 타깃 자신의 이력을 넘어 타깃 예측을 날카롭게 하면, 정보가 소스 → 타깃으로 흐른다. 방향성(X→Y ≠ Y→X)·비선형 — 상관과 코히어런스가 볼 수 없는 것.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2F6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155448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932688" y="3017520"/>
            <a:ext cx="1280160" cy="45720"/>
          </a:xfrm>
          <a:prstGeom prst="rect">
            <a:avLst/>
          </a:prstGeom>
          <a:solidFill>
            <a:srgbClr val="E6A23C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3200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Results &amp; Conclusion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50976" y="4114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D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파랑이 지배하는 인과 구조와 바람의 역설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893247" y="645566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0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3504" y="786384"/>
            <a:ext cx="530352" cy="0"/>
          </a:xfrm>
          <a:prstGeom prst="line">
            <a:avLst/>
          </a:prstGeom>
          <a:noFill/>
          <a:ln w="31750">
            <a:solidFill>
              <a:srgbClr val="0B2F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81328" y="23774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Results — 인과 네트워크</a:t>
            </a:r>
            <a:endParaRPr lang="en-US" sz="2300" dirty="0"/>
          </a:p>
        </p:txBody>
      </p:sp>
      <p:pic>
        <p:nvPicPr>
          <p:cNvPr id="5" name="Image 0" descr="figs/lab_assets/ksn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1219" y="274320"/>
            <a:ext cx="1053548" cy="457200"/>
          </a:xfrm>
          <a:prstGeom prst="rect">
            <a:avLst/>
          </a:prstGeom>
        </p:spPr>
      </p:pic>
      <p:pic>
        <p:nvPicPr>
          <p:cNvPr id="6" name="Image 1" descr="figs/lab_assets/lam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0399" y="274320"/>
            <a:ext cx="916229" cy="457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66928" y="969264"/>
            <a:ext cx="11057839" cy="0"/>
          </a:xfrm>
          <a:prstGeom prst="line">
            <a:avLst/>
          </a:prstGeom>
          <a:noFill/>
          <a:ln w="15875">
            <a:solidFill>
              <a:srgbClr val="D6D6D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893247" y="645566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66928" y="11430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A wave-dominated causal graph ]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566928" y="1783080"/>
            <a:ext cx="5760720" cy="3890932"/>
          </a:xfrm>
          <a:prstGeom prst="rect">
            <a:avLst/>
          </a:prstGeom>
          <a:solidFill>
            <a:srgbClr val="FFFFFF"/>
          </a:solidFill>
          <a:ln w="15875">
            <a:solidFill>
              <a:srgbClr val="D6D6D6"/>
            </a:solidFill>
            <a:prstDash val="solid"/>
          </a:ln>
        </p:spPr>
      </p:sp>
      <p:pic>
        <p:nvPicPr>
          <p:cNvPr id="11" name="Image 2" descr="figs/v2_assets/te-netwo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920240"/>
            <a:ext cx="5486400" cy="361661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66928" y="5783740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 인과 네트워크 · bivariate KSG, 가중치 = 전 54 케이스 평균 te_frac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6739128" y="1920240"/>
            <a:ext cx="48856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READING — 읽는 법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6739128" y="2304288"/>
            <a:ext cx="488563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파랑 표고가 모든 유의 응답(pitch·heave·surge·타워베이스·계류)을 구동.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바람은 구조로의 유의한 방향 전달이 없다.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739128" y="3721608"/>
            <a:ext cx="4885639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739128" y="3831336"/>
            <a:ext cx="48856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/ 7</a:t>
            </a:r>
            <a:endParaRPr lang="en-US" sz="3400" dirty="0"/>
          </a:p>
        </p:txBody>
      </p:sp>
      <p:sp>
        <p:nvSpPr>
          <p:cNvPr id="17" name="Text 12"/>
          <p:cNvSpPr/>
          <p:nvPr/>
        </p:nvSpPr>
        <p:spPr>
          <a:xfrm>
            <a:off x="6739128" y="4398264"/>
            <a:ext cx="4885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유의 엣지 — 모두 파랑에서 시작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739128" y="4855464"/>
            <a:ext cx="48856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en-US" sz="3400" dirty="0"/>
          </a:p>
        </p:txBody>
      </p:sp>
      <p:sp>
        <p:nvSpPr>
          <p:cNvPr id="19" name="Text 14"/>
          <p:cNvSpPr/>
          <p:nvPr/>
        </p:nvSpPr>
        <p:spPr>
          <a:xfrm>
            <a:off x="6739128" y="5422392"/>
            <a:ext cx="4885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유의한 wind → structure 엣지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3504" y="786384"/>
            <a:ext cx="530352" cy="0"/>
          </a:xfrm>
          <a:prstGeom prst="line">
            <a:avLst/>
          </a:prstGeom>
          <a:noFill/>
          <a:ln w="31750">
            <a:solidFill>
              <a:srgbClr val="0B2F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81328" y="23774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Results — 유의 엣지</a:t>
            </a:r>
            <a:endParaRPr lang="en-US" sz="2300" dirty="0"/>
          </a:p>
        </p:txBody>
      </p:sp>
      <p:pic>
        <p:nvPicPr>
          <p:cNvPr id="5" name="Image 0" descr="figs/lab_assets/ksn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1219" y="274320"/>
            <a:ext cx="1053548" cy="457200"/>
          </a:xfrm>
          <a:prstGeom prst="rect">
            <a:avLst/>
          </a:prstGeom>
        </p:spPr>
      </p:pic>
      <p:pic>
        <p:nvPicPr>
          <p:cNvPr id="6" name="Image 1" descr="figs/lab_assets/lam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0399" y="274320"/>
            <a:ext cx="916229" cy="457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66928" y="969264"/>
            <a:ext cx="11057839" cy="0"/>
          </a:xfrm>
          <a:prstGeom prst="line">
            <a:avLst/>
          </a:prstGeom>
          <a:noFill/>
          <a:ln w="15875">
            <a:solidFill>
              <a:srgbClr val="D6D6D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893247" y="645566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66928" y="11430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The significant edges — 7 of 18 ]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566928" y="2011680"/>
            <a:ext cx="6400800" cy="3104103"/>
          </a:xfrm>
          <a:prstGeom prst="rect">
            <a:avLst/>
          </a:prstGeom>
          <a:solidFill>
            <a:srgbClr val="FFFFFF"/>
          </a:solidFill>
          <a:ln w="15875">
            <a:solidFill>
              <a:srgbClr val="D6D6D6"/>
            </a:solidFill>
            <a:prstDash val="solid"/>
          </a:ln>
        </p:spPr>
      </p:sp>
      <p:pic>
        <p:nvPicPr>
          <p:cNvPr id="11" name="Image 2" descr="figs/v2_assets/conf-windwave-ba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2148840"/>
            <a:ext cx="6126480" cy="282978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66928" y="5225511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유의 방향 전달(nats) — 파랑만, 54 케이스 평균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7333488" y="2103120"/>
            <a:ext cx="42912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WAVE DRIVES THE STRUCTURE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7333488" y="2487168"/>
            <a:ext cx="429127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강한 5개 엣지(pitch, heave, 전방 계류선, surge)가 0.11–0.12 nats 에 모여 있다.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유의한 wind → structure 엣지는 캠페인 전체에서 없다.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7333488" y="4407408"/>
            <a:ext cx="4291279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7333488" y="4517136"/>
            <a:ext cx="42912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 / 18</a:t>
            </a:r>
            <a:endParaRPr lang="en-US" sz="3000" dirty="0"/>
          </a:p>
        </p:txBody>
      </p:sp>
      <p:sp>
        <p:nvSpPr>
          <p:cNvPr id="17" name="Text 12"/>
          <p:cNvSpPr/>
          <p:nvPr/>
        </p:nvSpPr>
        <p:spPr>
          <a:xfrm>
            <a:off x="7333488" y="5065776"/>
            <a:ext cx="42912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유의한 wind 엣지 — 파랑이 7개 모두 구동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3504" y="786384"/>
            <a:ext cx="530352" cy="0"/>
          </a:xfrm>
          <a:prstGeom prst="line">
            <a:avLst/>
          </a:prstGeom>
          <a:noFill/>
          <a:ln w="31750">
            <a:solidFill>
              <a:srgbClr val="0B2F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81328" y="23774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Results — 삼각검증</a:t>
            </a:r>
            <a:endParaRPr lang="en-US" sz="2300" dirty="0"/>
          </a:p>
        </p:txBody>
      </p:sp>
      <p:pic>
        <p:nvPicPr>
          <p:cNvPr id="5" name="Image 0" descr="figs/lab_assets/ksn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1219" y="274320"/>
            <a:ext cx="1053548" cy="457200"/>
          </a:xfrm>
          <a:prstGeom prst="rect">
            <a:avLst/>
          </a:prstGeom>
        </p:spPr>
      </p:pic>
      <p:pic>
        <p:nvPicPr>
          <p:cNvPr id="6" name="Image 1" descr="figs/lab_assets/lam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0399" y="274320"/>
            <a:ext cx="916229" cy="457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66928" y="969264"/>
            <a:ext cx="11057839" cy="0"/>
          </a:xfrm>
          <a:prstGeom prst="line">
            <a:avLst/>
          </a:prstGeom>
          <a:noFill/>
          <a:ln w="15875">
            <a:solidFill>
              <a:srgbClr val="D6D6D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893247" y="645566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66928" y="11430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TE vs. coherence vs. Granger ]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566928" y="1874520"/>
            <a:ext cx="33811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코히어런스 γ²(f)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66928" y="2258568"/>
            <a:ext cx="338114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무방향 스펙트럼 상한. 공유 파워, 방향 없음.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176674" y="1874520"/>
            <a:ext cx="0" cy="182880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405274" y="1874520"/>
            <a:ext cx="33811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Gaussian / Granger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405274" y="2258568"/>
            <a:ext cx="338114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방향성 있으나 선형. 상관된 wind–wave 에서 과검출.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015021" y="1874520"/>
            <a:ext cx="0" cy="182880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243621" y="1874520"/>
            <a:ext cx="33811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전달 엔트로피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8243621" y="2258568"/>
            <a:ext cx="338114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방향성 AND 비선형. 다른 기법이 놓치는 연성 포착.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66928" y="4206240"/>
            <a:ext cx="11057839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66928" y="434340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 읽기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566928" y="4754880"/>
            <a:ext cx="1105783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 는 유의하나 선형 기준선은 아닌 곳 = TE 만 잡는 비선형 방향 연성(예: 파랑 2차 차주파수의 pitch 강제력). 셋이 일치하는 곳 = 임베딩이 검증됨.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3504" y="786384"/>
            <a:ext cx="530352" cy="0"/>
          </a:xfrm>
          <a:prstGeom prst="line">
            <a:avLst/>
          </a:prstGeom>
          <a:noFill/>
          <a:ln w="31750">
            <a:solidFill>
              <a:srgbClr val="0B2F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81328" y="23774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Results — 바람의 역설</a:t>
            </a:r>
            <a:endParaRPr lang="en-US" sz="2300" dirty="0"/>
          </a:p>
        </p:txBody>
      </p:sp>
      <p:pic>
        <p:nvPicPr>
          <p:cNvPr id="5" name="Image 0" descr="figs/lab_assets/ksn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1219" y="274320"/>
            <a:ext cx="1053548" cy="457200"/>
          </a:xfrm>
          <a:prstGeom prst="rect">
            <a:avLst/>
          </a:prstGeom>
        </p:spPr>
      </p:pic>
      <p:pic>
        <p:nvPicPr>
          <p:cNvPr id="6" name="Image 1" descr="figs/lab_assets/lam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0399" y="274320"/>
            <a:ext cx="916229" cy="457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66928" y="969264"/>
            <a:ext cx="11057839" cy="0"/>
          </a:xfrm>
          <a:prstGeom prst="line">
            <a:avLst/>
          </a:prstGeom>
          <a:noFill/>
          <a:ln w="15875">
            <a:solidFill>
              <a:srgbClr val="D6D6D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893247" y="645566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66928" y="11430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The wind paradox ]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5916168" y="1874520"/>
            <a:ext cx="0" cy="146304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66928" y="187452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PUZZLE — 수수께끼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66928" y="2258568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Wind → structure ≈ 0, 8–20 m/s 전 구간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정작 터빈을 구동하는 건 바람인데. 반직관적이며 모든 운전점에서 성립.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236208" y="1874520"/>
            <a:ext cx="53885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NOT AN ARTIFACT — 인공물 아님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236208" y="2258568"/>
            <a:ext cx="538855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바람은 ~11.6 s 에 탈상관 — 30 s 임베딩 창 안. 바람 신호는 샘플링되지만 구조로 정보를 전달하지 않을 뿐.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66928" y="4023360"/>
            <a:ext cx="11057839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66928" y="416052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HYPOTHESIS — 제어기 ‘방화벽’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566928" y="4572000"/>
            <a:ext cx="1105783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블레이드 피치 제어기(ROSCO)가 로터 추력을 매우 단단히 조절해, 바람 변동이 플랫폼에 도달하기 전에 거부된다. 제어기가 인과적 방화벽으로 작용 — 바람은 로터를 가진화하지 구조를 가진화하지 않는다.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3504" y="786384"/>
            <a:ext cx="530352" cy="0"/>
          </a:xfrm>
          <a:prstGeom prst="line">
            <a:avLst/>
          </a:prstGeom>
          <a:noFill/>
          <a:ln w="31750">
            <a:solidFill>
              <a:srgbClr val="0B2F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81328" y="23774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Results — 방화벽 검정</a:t>
            </a:r>
            <a:endParaRPr lang="en-US" sz="2300" dirty="0"/>
          </a:p>
        </p:txBody>
      </p:sp>
      <p:pic>
        <p:nvPicPr>
          <p:cNvPr id="5" name="Image 0" descr="figs/lab_assets/ksn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1219" y="274320"/>
            <a:ext cx="1053548" cy="457200"/>
          </a:xfrm>
          <a:prstGeom prst="rect">
            <a:avLst/>
          </a:prstGeom>
        </p:spPr>
      </p:pic>
      <p:pic>
        <p:nvPicPr>
          <p:cNvPr id="6" name="Image 1" descr="figs/lab_assets/lam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0399" y="274320"/>
            <a:ext cx="916229" cy="457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66928" y="969264"/>
            <a:ext cx="11057839" cy="0"/>
          </a:xfrm>
          <a:prstGeom prst="line">
            <a:avLst/>
          </a:prstGeom>
          <a:noFill/>
          <a:ln w="15875">
            <a:solidFill>
              <a:srgbClr val="D6D6D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893247" y="645566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66928" y="11430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Testing the firewall — controller-off ablation ]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566928" y="1965960"/>
            <a:ext cx="6675120" cy="3029722"/>
          </a:xfrm>
          <a:prstGeom prst="rect">
            <a:avLst/>
          </a:prstGeom>
          <a:solidFill>
            <a:srgbClr val="FFFFFF"/>
          </a:solidFill>
          <a:ln w="15875">
            <a:solidFill>
              <a:srgbClr val="D6D6D6"/>
            </a:solidFill>
            <a:prstDash val="solid"/>
          </a:ln>
        </p:spPr>
      </p:sp>
      <p:pic>
        <p:nvPicPr>
          <p:cNvPr id="11" name="Image 2" descr="figs/v2_assets/conf-abla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2103120"/>
            <a:ext cx="6400800" cy="275540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66928" y="5105410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블레이드 피치 제어를 동결(개루프)하고 동일 케이스 재실행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7607808" y="2103120"/>
            <a:ext cx="4016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VERDICT — 판정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7607808" y="2487168"/>
            <a:ext cx="401695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시사적이나 결론적이지 않음.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wind→heave 엣지가 나타나지만, 개루프 과회전이 AIS 를 부풀려 bivariate TE 에서 바람을 가린다.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7607808" y="4315968"/>
            <a:ext cx="4016959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7607808" y="4462272"/>
            <a:ext cx="40169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</a:t>
            </a:r>
            <a:endParaRPr lang="en-US" sz="2400" dirty="0"/>
          </a:p>
        </p:txBody>
      </p:sp>
      <p:sp>
        <p:nvSpPr>
          <p:cNvPr id="17" name="Text 12"/>
          <p:cNvSpPr/>
          <p:nvPr/>
        </p:nvSpPr>
        <p:spPr>
          <a:xfrm>
            <a:off x="7607808" y="4965192"/>
            <a:ext cx="4016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조건부 TE  TE(wind→Y | wave)  +  과회전 없는 ablation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3504" y="786384"/>
            <a:ext cx="530352" cy="0"/>
          </a:xfrm>
          <a:prstGeom prst="line">
            <a:avLst/>
          </a:prstGeom>
          <a:noFill/>
          <a:ln w="31750">
            <a:solidFill>
              <a:srgbClr val="0B2F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81328" y="23774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Results — 방법론 교훈</a:t>
            </a:r>
            <a:endParaRPr lang="en-US" sz="2300" dirty="0"/>
          </a:p>
        </p:txBody>
      </p:sp>
      <p:pic>
        <p:nvPicPr>
          <p:cNvPr id="5" name="Image 0" descr="figs/lab_assets/ksn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1219" y="274320"/>
            <a:ext cx="1053548" cy="457200"/>
          </a:xfrm>
          <a:prstGeom prst="rect">
            <a:avLst/>
          </a:prstGeom>
        </p:spPr>
      </p:pic>
      <p:pic>
        <p:nvPicPr>
          <p:cNvPr id="6" name="Image 1" descr="figs/lab_assets/lam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0399" y="274320"/>
            <a:ext cx="916229" cy="457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66928" y="969264"/>
            <a:ext cx="11057839" cy="0"/>
          </a:xfrm>
          <a:prstGeom prst="line">
            <a:avLst/>
          </a:prstGeom>
          <a:noFill/>
          <a:ln w="15875">
            <a:solidFill>
              <a:srgbClr val="D6D6D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893247" y="645566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66928" y="11430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What made it work — and what nearly broke it ]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5916168" y="1874520"/>
            <a:ext cx="0" cy="274320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66928" y="187452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GPU 가 스윕을 가능케 했다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66928" y="219456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~35 h</a:t>
            </a:r>
            <a:endParaRPr lang="en-US" sz="4400" dirty="0"/>
          </a:p>
        </p:txBody>
      </p:sp>
      <p:sp>
        <p:nvSpPr>
          <p:cNvPr id="13" name="Text 9"/>
          <p:cNvSpPr/>
          <p:nvPr/>
        </p:nvSpPr>
        <p:spPr>
          <a:xfrm>
            <a:off x="566928" y="306324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단일 A100 배치 실행 케이스당. OpenCL KSG 추정기(CPU 대비 검증)가 전체 DLC 스윕을 현실화한다.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236208" y="1874520"/>
            <a:ext cx="53885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 — 임베딩 지연이 중요하다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236208" y="2194560"/>
            <a:ext cx="53885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0.12 → 0</a:t>
            </a:r>
            <a:endParaRPr lang="en-US" sz="4000" dirty="0"/>
          </a:p>
        </p:txBody>
      </p:sp>
      <p:sp>
        <p:nvSpPr>
          <p:cNvPr id="16" name="Text 12"/>
          <p:cNvSpPr/>
          <p:nvPr/>
        </p:nvSpPr>
        <p:spPr>
          <a:xfrm>
            <a:off x="6236208" y="3063240"/>
            <a:ext cx="538855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self-MI 의 데이터 기반 τ 는 AIS 는 보존했으나 TE 엣지를 붕괴(τ=10 이 지배적 Wave→PtfmPitch 를 0 으로). 방향성 연성은 특정 시차에 산다 — AIS 휴리스틱은 TE 로 전이되지 않는다.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3504" y="786384"/>
            <a:ext cx="530352" cy="0"/>
          </a:xfrm>
          <a:prstGeom prst="line">
            <a:avLst/>
          </a:prstGeom>
          <a:noFill/>
          <a:ln w="31750">
            <a:solidFill>
              <a:srgbClr val="0B2F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81328" y="23774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Conclusion — TE + Sobol</a:t>
            </a:r>
            <a:endParaRPr lang="en-US" sz="2300" dirty="0"/>
          </a:p>
        </p:txBody>
      </p:sp>
      <p:pic>
        <p:nvPicPr>
          <p:cNvPr id="5" name="Image 0" descr="figs/lab_assets/ksn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1219" y="274320"/>
            <a:ext cx="1053548" cy="457200"/>
          </a:xfrm>
          <a:prstGeom prst="rect">
            <a:avLst/>
          </a:prstGeom>
        </p:spPr>
      </p:pic>
      <p:pic>
        <p:nvPicPr>
          <p:cNvPr id="6" name="Image 1" descr="figs/lab_assets/lam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0399" y="274320"/>
            <a:ext cx="916229" cy="457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66928" y="969264"/>
            <a:ext cx="11057839" cy="0"/>
          </a:xfrm>
          <a:prstGeom prst="line">
            <a:avLst/>
          </a:prstGeom>
          <a:noFill/>
          <a:ln w="15875">
            <a:solidFill>
              <a:srgbClr val="D6D6D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893247" y="645566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66928" y="11430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Closing the loop: TE + Sobol → data-driven weights ]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566928" y="1783080"/>
            <a:ext cx="5303520" cy="3477632"/>
          </a:xfrm>
          <a:prstGeom prst="rect">
            <a:avLst/>
          </a:prstGeom>
          <a:solidFill>
            <a:srgbClr val="FFFFFF"/>
          </a:solidFill>
          <a:ln w="15875">
            <a:solidFill>
              <a:srgbClr val="D6D6D6"/>
            </a:solidFill>
            <a:prstDash val="solid"/>
          </a:ln>
        </p:spPr>
      </p:sp>
      <p:pic>
        <p:nvPicPr>
          <p:cNvPr id="11" name="Image 2" descr="figs/v2_assets/combin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920240"/>
            <a:ext cx="5029200" cy="320331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66928" y="537044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COMBINED GRAPH — TE + Sobol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6419088" y="1783080"/>
            <a:ext cx="5205679" cy="2506714"/>
          </a:xfrm>
          <a:prstGeom prst="rect">
            <a:avLst/>
          </a:prstGeom>
          <a:solidFill>
            <a:srgbClr val="FFFFFF"/>
          </a:solidFill>
          <a:ln w="15875">
            <a:solidFill>
              <a:srgbClr val="D6D6D6"/>
            </a:solidFill>
            <a:prstDash val="solid"/>
          </a:ln>
        </p:spPr>
      </p:sp>
      <p:pic>
        <p:nvPicPr>
          <p:cNvPr id="14" name="Image 3" descr="figs/v2_assets/sobo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1920240"/>
            <a:ext cx="4931359" cy="223239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419088" y="4399522"/>
            <a:ext cx="52056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Sobol Sₜ — 설계 민감도</a:t>
            </a:r>
            <a:endParaRPr lang="en-US" sz="1150" dirty="0"/>
          </a:p>
        </p:txBody>
      </p:sp>
      <p:sp>
        <p:nvSpPr>
          <p:cNvPr id="16" name="Text 10"/>
          <p:cNvSpPr/>
          <p:nvPr/>
        </p:nvSpPr>
        <p:spPr>
          <a:xfrm>
            <a:off x="6419088" y="4655554"/>
            <a:ext cx="520567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계류 길이(L_u)·강성(EA)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가 fairlead 장력과 여러 운동을 지배. 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기둥 형상(D_OCol, R_MO)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이 surge·sway·heave 를 구동.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566928" y="5532120"/>
            <a:ext cx="11057839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566928" y="566928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그래프에 두 개의 방향 중요도 지도 —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 구동 동역학은 TE, 설계 민감도는 Sobol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최적화 가중치의 데이터 기반 근거(다음 단계 제안).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3504" y="786384"/>
            <a:ext cx="530352" cy="0"/>
          </a:xfrm>
          <a:prstGeom prst="line">
            <a:avLst/>
          </a:prstGeom>
          <a:noFill/>
          <a:ln w="31750">
            <a:solidFill>
              <a:srgbClr val="0B2F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81328" y="23774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Conclusion — 한계와 향후</a:t>
            </a:r>
            <a:endParaRPr lang="en-US" sz="2300" dirty="0"/>
          </a:p>
        </p:txBody>
      </p:sp>
      <p:pic>
        <p:nvPicPr>
          <p:cNvPr id="5" name="Image 0" descr="figs/lab_assets/ksn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1219" y="274320"/>
            <a:ext cx="1053548" cy="457200"/>
          </a:xfrm>
          <a:prstGeom prst="rect">
            <a:avLst/>
          </a:prstGeom>
        </p:spPr>
      </p:pic>
      <p:pic>
        <p:nvPicPr>
          <p:cNvPr id="6" name="Image 1" descr="figs/lab_assets/lam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0399" y="274320"/>
            <a:ext cx="916229" cy="457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66928" y="969264"/>
            <a:ext cx="11057839" cy="0"/>
          </a:xfrm>
          <a:prstGeom prst="line">
            <a:avLst/>
          </a:prstGeom>
          <a:noFill/>
          <a:ln w="15875">
            <a:solidFill>
              <a:srgbClr val="D6D6D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893247" y="645566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66928" y="11430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Where this goes next ]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5916168" y="1874520"/>
            <a:ext cx="0" cy="310896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66928" y="187452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LIMITATIONS — 한계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66928" y="2286000"/>
            <a:ext cx="5029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pPr indent="0" marL="0">
              <a:lnSpc>
                <a:spcPct val="13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단일 플랫폼(UMaine VolturnUS-S), 시뮬레이션 한정 — 현장 검증 없음.</a:t>
            </a:r>
            <a:endParaRPr lang="en-US" sz="1300" dirty="0"/>
          </a:p>
          <a:p>
            <a:pPr indent="0" marL="0">
              <a:lnSpc>
                <a:spcPct val="132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pPr indent="0" marL="0">
              <a:lnSpc>
                <a:spcPct val="13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max_lag = 150(30 s)은 PtfmSurge(탈상관 ~24.6 s)에 짧을 수 있음.</a:t>
            </a:r>
            <a:endParaRPr lang="en-US" sz="1300" dirty="0"/>
          </a:p>
          <a:p>
            <a:pPr indent="0" marL="0">
              <a:lnSpc>
                <a:spcPct val="132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pPr indent="0" marL="0">
              <a:lnSpc>
                <a:spcPct val="13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방화벽 메커니즘(제어기)은 예비적·교란됨 — 바람 탈동조는 보였으나 원인은 미확정.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236208" y="1874520"/>
            <a:ext cx="53885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 STEPS — 향후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236208" y="2286000"/>
            <a:ext cx="5388559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pPr indent="0" marL="0">
              <a:lnSpc>
                <a:spcPct val="13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조건부 TE — TE(wind→Y | wave) — 로 bivariate 추정을 넘어 방화벽 검정.</a:t>
            </a:r>
            <a:endParaRPr lang="en-US" sz="1300" dirty="0"/>
          </a:p>
          <a:p>
            <a:pPr indent="0" marL="0">
              <a:lnSpc>
                <a:spcPct val="132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pPr indent="0" marL="0">
              <a:lnSpc>
                <a:spcPct val="13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과회전 없는 controller-off ablation 으로 메커니즘 규명.</a:t>
            </a:r>
            <a:endParaRPr lang="en-US" sz="1300" dirty="0"/>
          </a:p>
          <a:p>
            <a:pPr indent="0" marL="0">
              <a:lnSpc>
                <a:spcPct val="132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pPr indent="0" marL="0">
              <a:lnSpc>
                <a:spcPct val="13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하이브리드 그래프: Sobol 설계변수 민감도 추가.</a:t>
            </a:r>
            <a:endParaRPr lang="en-US" sz="1300" dirty="0"/>
          </a:p>
          <a:p>
            <a:pPr indent="0" marL="0">
              <a:lnSpc>
                <a:spcPct val="132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B2F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pPr indent="0" marL="0">
              <a:lnSpc>
                <a:spcPct val="132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순위화된 TE 구동→하중 경로</a:t>
            </a:r>
            <a:pPr indent="0" marL="0">
              <a:lnSpc>
                <a:spcPct val="13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를 구조/피로 하중 가중에 투입해 설계 최적화로.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2F6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FB0C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49808" y="132588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전달 엔트로피는 부유식 풍력터빈 응답에서 </a:t>
            </a:r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7FB0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파랑이 지배하는 인과 구조</a:t>
            </a:r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드러내며, 이는 선형 기법이 부분적으로만 포착한다.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49808" y="3108960"/>
            <a:ext cx="10692079" cy="0"/>
          </a:xfrm>
          <a:prstGeom prst="line">
            <a:avLst/>
          </a:prstGeom>
          <a:noFill/>
          <a:ln w="12700">
            <a:solidFill>
              <a:srgbClr val="3A5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3291840"/>
            <a:ext cx="1069207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E6A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 </a:t>
            </a:r>
            <a:pPr indent="0" marL="0">
              <a:lnSpc>
                <a:spcPct val="125000"/>
              </a:lnSpc>
              <a:spcAft>
                <a:spcPts val="900"/>
              </a:spcAft>
              <a:buNone/>
            </a:pPr>
            <a:r>
              <a:rPr lang="en-US" sz="1450" dirty="0">
                <a:solidFill>
                  <a:srgbClr val="DDE5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파랑이 pitch·heave·surge·타워베이스·계류를 구동; 54 케이스 캠페인 전체에서 유의한 wind → structure 엣지는 없다.</a:t>
            </a:r>
            <a:endParaRPr lang="en-US" sz="1450" dirty="0"/>
          </a:p>
          <a:p>
            <a:pPr indent="0" marL="0">
              <a:lnSpc>
                <a:spcPct val="125000"/>
              </a:lnSpc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E6A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 </a:t>
            </a:r>
            <a:pPr indent="0" marL="0">
              <a:lnSpc>
                <a:spcPct val="125000"/>
              </a:lnSpc>
              <a:spcAft>
                <a:spcPts val="900"/>
              </a:spcAft>
              <a:buNone/>
            </a:pPr>
            <a:r>
              <a:rPr lang="en-US" sz="1450" dirty="0">
                <a:solidFill>
                  <a:srgbClr val="DDE5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바람 탈동조는 견고하고 비자명하며 8–20 m/s 전 구간에서 성립 — 다만 제어기가 원인인지는 열린·검증 가능한 질문.</a:t>
            </a:r>
            <a:endParaRPr lang="en-US" sz="1450" dirty="0"/>
          </a:p>
          <a:p>
            <a:pPr indent="0" marL="0">
              <a:lnSpc>
                <a:spcPct val="125000"/>
              </a:lnSpc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E6A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 </a:t>
            </a:r>
            <a:pPr indent="0" marL="0">
              <a:lnSpc>
                <a:spcPct val="125000"/>
              </a:lnSpc>
              <a:spcAft>
                <a:spcPts val="900"/>
              </a:spcAft>
              <a:buNone/>
            </a:pPr>
            <a:r>
              <a:rPr lang="en-US" sz="1450" dirty="0">
                <a:solidFill>
                  <a:srgbClr val="DDE5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조건부 TE 와 과회전 없는 ablation 이 이를 규명하는 길.</a:t>
            </a:r>
            <a:endParaRPr lang="en-US" sz="1450" dirty="0"/>
          </a:p>
          <a:p>
            <a:pPr indent="0" marL="0">
              <a:lnSpc>
                <a:spcPct val="125000"/>
              </a:lnSpc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E6A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 </a:t>
            </a:r>
            <a:pPr indent="0" marL="0">
              <a:lnSpc>
                <a:spcPct val="125000"/>
              </a:lnSpc>
              <a:spcAft>
                <a:spcPts val="900"/>
              </a:spcAft>
              <a:buNone/>
            </a:pPr>
            <a:r>
              <a:rPr lang="en-US" sz="1450" dirty="0">
                <a:solidFill>
                  <a:srgbClr val="DDE5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다음: 이 순위를 Sobol 설계 민감도와 짝지어 설계 최적화의 데이터 기반 가중치를 설정.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7" name="Image 0" descr="figs/lab_assets/ksn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263640"/>
            <a:ext cx="1011406" cy="438912"/>
          </a:xfrm>
          <a:prstGeom prst="rect">
            <a:avLst/>
          </a:prstGeom>
        </p:spPr>
      </p:pic>
      <p:pic>
        <p:nvPicPr>
          <p:cNvPr id="8" name="Image 1" descr="figs/lab_assets/lam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5188" y="6263640"/>
            <a:ext cx="879580" cy="4389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0984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github.com/sinahdme/fowt-te-causal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Directional Causality Between Load and Response Variables of a FOWT</dc:title>
  <dc:subject>PptxGenJS Presentation</dc:subject>
  <dc:creator>Sina Hadadi</dc:creator>
  <cp:lastModifiedBy>Sina Hadadi</cp:lastModifiedBy>
  <cp:revision>1</cp:revision>
  <dcterms:created xsi:type="dcterms:W3CDTF">2026-06-17T06:53:41Z</dcterms:created>
  <dcterms:modified xsi:type="dcterms:W3CDTF">2026-06-17T06:53:41Z</dcterms:modified>
</cp:coreProperties>
</file>